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66" r:id="rId5"/>
    <p:sldId id="265" r:id="rId6"/>
    <p:sldId id="264" r:id="rId7"/>
    <p:sldId id="268" r:id="rId8"/>
    <p:sldId id="270" r:id="rId9"/>
    <p:sldId id="271" r:id="rId10"/>
    <p:sldId id="259" r:id="rId11"/>
    <p:sldId id="263" r:id="rId12"/>
    <p:sldId id="260" r:id="rId13"/>
    <p:sldId id="269" r:id="rId14"/>
    <p:sldId id="272" r:id="rId15"/>
    <p:sldId id="273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E5FA"/>
    <a:srgbClr val="ABD1F5"/>
    <a:srgbClr val="1F5ED6"/>
    <a:srgbClr val="5DAAED"/>
    <a:srgbClr val="9BC8F3"/>
    <a:srgbClr val="0842CD"/>
    <a:srgbClr val="56A1EA"/>
    <a:srgbClr val="0640CD"/>
    <a:srgbClr val="DAEDFC"/>
    <a:srgbClr val="E2F1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pos="3840"/>
        <p:guide orient="horz" pos="21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23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.svg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tags" Target="../tags/tag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11"/>
          <p:cNvPicPr>
            <a:picLocks noChangeAspect="1"/>
          </p:cNvPicPr>
          <p:nvPr/>
        </p:nvPicPr>
        <p:blipFill>
          <a:blip r:embed="rId1"/>
          <a:srcRect b="8358"/>
          <a:stretch>
            <a:fillRect/>
          </a:stretch>
        </p:blipFill>
        <p:spPr>
          <a:xfrm>
            <a:off x="-555625" y="0"/>
            <a:ext cx="13302615" cy="68446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29970" y="1991360"/>
            <a:ext cx="10112375" cy="1268730"/>
          </a:xfrm>
        </p:spPr>
        <p:txBody>
          <a:bodyPr/>
          <a:p>
            <a:r>
              <a:rPr lang="zh-CN" altLang="en-US" sz="54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</a:rPr>
              <a:t>基于严肃游戏的行为模拟研究</a:t>
            </a:r>
            <a:endParaRPr lang="zh-CN" altLang="en-US" sz="5400" b="1">
              <a:gradFill>
                <a:gsLst>
                  <a:gs pos="0">
                    <a:srgbClr val="35B9F6"/>
                  </a:gs>
                  <a:gs pos="74000">
                    <a:srgbClr val="0035CC"/>
                  </a:gs>
                  <a:gs pos="100000">
                    <a:srgbClr val="0128C1"/>
                  </a:gs>
                </a:gsLst>
                <a:lin ang="13440000" scaled="0"/>
              </a:gra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4475" y="4201795"/>
            <a:ext cx="9144000" cy="1411605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吉瑞新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浙江大学公共管理学院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指导老师：高翔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蒋俊彦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肖诗阳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3296920" y="651510"/>
            <a:ext cx="5579110" cy="731520"/>
            <a:chOff x="3560" y="1146"/>
            <a:chExt cx="10422" cy="136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12" y="1208"/>
              <a:ext cx="3870" cy="124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0" y="1146"/>
              <a:ext cx="6432" cy="1367"/>
            </a:xfrm>
            <a:prstGeom prst="rect">
              <a:avLst/>
            </a:prstGeom>
          </p:spPr>
        </p:pic>
      </p:grpSp>
      <p:cxnSp>
        <p:nvCxnSpPr>
          <p:cNvPr id="12" name="直接连接符 11"/>
          <p:cNvCxnSpPr/>
          <p:nvPr/>
        </p:nvCxnSpPr>
        <p:spPr>
          <a:xfrm>
            <a:off x="4860925" y="3413760"/>
            <a:ext cx="2451735" cy="7620"/>
          </a:xfrm>
          <a:prstGeom prst="line">
            <a:avLst/>
          </a:prstGeom>
          <a:ln w="88900">
            <a:gradFill>
              <a:gsLst>
                <a:gs pos="100000">
                  <a:srgbClr val="8DC7F5">
                    <a:alpha val="21000"/>
                  </a:srgbClr>
                </a:gs>
                <a:gs pos="0">
                  <a:srgbClr val="A6D3F7">
                    <a:alpha val="24000"/>
                  </a:srgbClr>
                </a:gs>
                <a:gs pos="25000">
                  <a:srgbClr val="2797EB"/>
                </a:gs>
                <a:gs pos="72000">
                  <a:srgbClr val="228BE7"/>
                </a:gs>
                <a:gs pos="47000">
                  <a:srgbClr val="0030C7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792980" y="5690235"/>
            <a:ext cx="2549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04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26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/>
          <p:nvPr/>
        </p:nvSpPr>
        <p:spPr>
          <a:xfrm>
            <a:off x="685165" y="1496060"/>
            <a:ext cx="9892665" cy="1191895"/>
          </a:xfrm>
          <a:prstGeom prst="rect">
            <a:avLst/>
          </a:prstGeom>
          <a:ln w="12700">
            <a:gradFill>
              <a:gsLst>
                <a:gs pos="0">
                  <a:srgbClr val="2797EB"/>
                </a:gs>
                <a:gs pos="100000">
                  <a:srgbClr val="228BE7"/>
                </a:gs>
                <a:gs pos="47000">
                  <a:srgbClr val="0030C7"/>
                </a:gs>
              </a:gsLst>
              <a:lin ang="180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、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85800" y="3355975"/>
            <a:ext cx="4070985" cy="3039745"/>
          </a:xfrm>
          <a:prstGeom prst="rect">
            <a:avLst/>
          </a:prstGeom>
          <a:ln w="12700">
            <a:gradFill>
              <a:gsLst>
                <a:gs pos="0">
                  <a:srgbClr val="2797EB"/>
                </a:gs>
                <a:gs pos="100000">
                  <a:srgbClr val="228BE7"/>
                </a:gs>
                <a:gs pos="47000">
                  <a:srgbClr val="0030C7"/>
                </a:gs>
              </a:gsLst>
              <a:lin ang="180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994910" y="3345180"/>
            <a:ext cx="6534150" cy="3049905"/>
          </a:xfrm>
          <a:prstGeom prst="rect">
            <a:avLst/>
          </a:prstGeom>
          <a:ln w="12700">
            <a:gradFill>
              <a:gsLst>
                <a:gs pos="0">
                  <a:srgbClr val="2797EB"/>
                </a:gs>
                <a:gs pos="100000">
                  <a:srgbClr val="228BE7"/>
                </a:gs>
                <a:gs pos="47000">
                  <a:srgbClr val="0030C7"/>
                </a:gs>
              </a:gsLst>
              <a:lin ang="180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0" y="-262255"/>
            <a:ext cx="12334240" cy="1202690"/>
            <a:chOff x="0" y="-413"/>
            <a:chExt cx="19424" cy="1894"/>
          </a:xfrm>
        </p:grpSpPr>
        <p:pic>
          <p:nvPicPr>
            <p:cNvPr id="11" name="图片 10" descr="11"/>
            <p:cNvPicPr>
              <a:picLocks noChangeAspect="1"/>
            </p:cNvPicPr>
            <p:nvPr/>
          </p:nvPicPr>
          <p:blipFill>
            <a:blip r:embed="rId1"/>
            <a:srcRect t="86757" r="14261" b="1554"/>
            <a:stretch>
              <a:fillRect/>
            </a:stretch>
          </p:blipFill>
          <p:spPr>
            <a:xfrm>
              <a:off x="0" y="-391"/>
              <a:ext cx="19425" cy="1487"/>
            </a:xfrm>
            <a:prstGeom prst="rect">
              <a:avLst/>
            </a:prstGeom>
          </p:spPr>
        </p:pic>
        <p:sp>
          <p:nvSpPr>
            <p:cNvPr id="4" name="同侧圆角矩形 3"/>
            <p:cNvSpPr/>
            <p:nvPr/>
          </p:nvSpPr>
          <p:spPr>
            <a:xfrm>
              <a:off x="147" y="183"/>
              <a:ext cx="2400" cy="958"/>
            </a:xfrm>
            <a:prstGeom prst="round2SameRect">
              <a:avLst>
                <a:gd name="adj1" fmla="val 23946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</a:rPr>
                <a:t>研究主题</a:t>
              </a:r>
              <a:endParaRPr lang="zh-CN" altLang="en-US" sz="2400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" name="同侧圆角矩形 4"/>
            <p:cNvSpPr/>
            <p:nvPr/>
          </p:nvSpPr>
          <p:spPr>
            <a:xfrm>
              <a:off x="5091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游戏设计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>
              <a:off x="7563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研究内容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同侧圆角矩形 8"/>
            <p:cNvSpPr/>
            <p:nvPr/>
          </p:nvSpPr>
          <p:spPr>
            <a:xfrm>
              <a:off x="2619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研究意义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3" name="同侧圆角矩形 12"/>
            <p:cNvSpPr/>
            <p:nvPr/>
          </p:nvSpPr>
          <p:spPr>
            <a:xfrm>
              <a:off x="10035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平台建设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同侧圆角矩形 13"/>
            <p:cNvSpPr/>
            <p:nvPr/>
          </p:nvSpPr>
          <p:spPr>
            <a:xfrm>
              <a:off x="12507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预期成果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9985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2457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585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5051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8" name="图片 17" descr="【logo】用于深色底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17269" y="-413"/>
              <a:ext cx="1955" cy="1894"/>
            </a:xfrm>
            <a:prstGeom prst="rect">
              <a:avLst/>
            </a:prstGeom>
          </p:spPr>
        </p:pic>
        <p:grpSp>
          <p:nvGrpSpPr>
            <p:cNvPr id="20" name="组合 19"/>
            <p:cNvGrpSpPr>
              <a:grpSpLocks noChangeAspect="1"/>
            </p:cNvGrpSpPr>
            <p:nvPr/>
          </p:nvGrpSpPr>
          <p:grpSpPr>
            <a:xfrm>
              <a:off x="16501" y="25"/>
              <a:ext cx="1041" cy="1019"/>
              <a:chOff x="16067" y="1829"/>
              <a:chExt cx="1524" cy="152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6296" y="2076"/>
                <a:ext cx="1062" cy="1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12" name="图片 111" descr="院徽"/>
              <p:cNvPicPr>
                <a:picLocks noChangeAspect="1"/>
              </p:cNvPicPr>
              <p:nvPr/>
            </p:nvPicPr>
            <p:blipFill>
              <a:blip r:embed="rId3"/>
              <a:srcRect l="11694" t="11840" r="11803" b="12022"/>
              <a:stretch>
                <a:fillRect/>
              </a:stretch>
            </p:blipFill>
            <p:spPr>
              <a:xfrm>
                <a:off x="16067" y="1829"/>
                <a:ext cx="1524" cy="1524"/>
              </a:xfrm>
              <a:prstGeom prst="rect">
                <a:avLst/>
              </a:prstGeom>
            </p:spPr>
          </p:pic>
        </p:grpSp>
      </p:grpSp>
      <p:sp>
        <p:nvSpPr>
          <p:cNvPr id="22" name="文本框 21"/>
          <p:cNvSpPr txBox="1"/>
          <p:nvPr/>
        </p:nvSpPr>
        <p:spPr>
          <a:xfrm>
            <a:off x="711835" y="1136015"/>
            <a:ext cx="1955800" cy="495935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algn="ctr">
              <a:lnSpc>
                <a:spcPct val="110000"/>
              </a:lnSpc>
            </a:pPr>
            <a:r>
              <a:rPr lang="zh-CN" altLang="en-US" sz="2200" b="1">
                <a:solidFill>
                  <a:schemeClr val="bg1"/>
                </a:solidFill>
              </a:rPr>
              <a:t>经典问题</a:t>
            </a:r>
            <a:endParaRPr lang="zh-CN" altLang="en-US" sz="2200" b="1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09320" y="1693545"/>
            <a:ext cx="9465310" cy="873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400" b="1"/>
              <a:t>制度压力如何塑造地方官员的策略性行为</a:t>
            </a:r>
            <a:r>
              <a:rPr lang="en-US" altLang="zh-CN" sz="2400" b="1"/>
              <a:t> </a:t>
            </a:r>
            <a:r>
              <a:rPr lang="zh-CN" altLang="en-US" sz="2400" b="1"/>
              <a:t>？</a:t>
            </a:r>
            <a:endParaRPr lang="zh-CN" altLang="en-US" sz="2400" b="1"/>
          </a:p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400" b="1"/>
              <a:t>什么样的制度设计，能够有效影响官员行为，提高治理绩效？</a:t>
            </a:r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712470" y="2994660"/>
            <a:ext cx="1955165" cy="495935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200" b="1">
                <a:solidFill>
                  <a:schemeClr val="bg1"/>
                </a:solidFill>
                <a:sym typeface="+mn-ea"/>
              </a:rPr>
              <a:t>典型场景</a:t>
            </a:r>
            <a:endParaRPr lang="zh-CN" altLang="en-US" sz="2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85165" y="3481705"/>
            <a:ext cx="40722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/>
              <a:t>跨域环境治理中的府际博弈</a:t>
            </a:r>
            <a:endParaRPr lang="zh-CN" altLang="en-US" sz="2000"/>
          </a:p>
        </p:txBody>
      </p:sp>
      <p:sp>
        <p:nvSpPr>
          <p:cNvPr id="29" name="文本框 28"/>
          <p:cNvSpPr txBox="1"/>
          <p:nvPr/>
        </p:nvSpPr>
        <p:spPr>
          <a:xfrm>
            <a:off x="4994910" y="2994660"/>
            <a:ext cx="2010410" cy="495935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200" b="1">
                <a:solidFill>
                  <a:schemeClr val="bg1"/>
                </a:solidFill>
                <a:sym typeface="+mn-ea"/>
              </a:rPr>
              <a:t>前沿方法</a:t>
            </a:r>
            <a:endParaRPr lang="zh-CN" altLang="en-US" sz="2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979035" y="4065905"/>
            <a:ext cx="6534150" cy="22790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 fontAlgn="auto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以非娱乐为首要目的，兼具规则性、互动性与情境感（Abt, 1970）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fontAlgn="auto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被用于测试制度规则在实施前的行为响应，充当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政策设计的安全实验室（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Olejniczak et al., 2018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fontAlgn="auto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的兴起提供了动态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NPC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与行为仿真的新可能（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Park et al., 2023; Fr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ą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ckiewicz et al., 2024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35" y="4008120"/>
            <a:ext cx="4036060" cy="2378710"/>
          </a:xfrm>
          <a:prstGeom prst="rect">
            <a:avLst/>
          </a:prstGeom>
        </p:spPr>
      </p:pic>
      <p:cxnSp>
        <p:nvCxnSpPr>
          <p:cNvPr id="34" name="直接连接符 33"/>
          <p:cNvCxnSpPr>
            <a:stCxn id="35" idx="0"/>
            <a:endCxn id="36" idx="1"/>
          </p:cNvCxnSpPr>
          <p:nvPr/>
        </p:nvCxnSpPr>
        <p:spPr>
          <a:xfrm flipV="1">
            <a:off x="1345565" y="4601845"/>
            <a:ext cx="1504950" cy="969645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909320" y="5571490"/>
            <a:ext cx="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/>
              <a:t>A </a:t>
            </a:r>
            <a:r>
              <a:rPr lang="zh-CN" altLang="en-US" sz="2800" b="1"/>
              <a:t>地</a:t>
            </a:r>
            <a:endParaRPr lang="zh-CN" altLang="en-US" sz="2800" b="1"/>
          </a:p>
        </p:txBody>
      </p:sp>
      <p:sp>
        <p:nvSpPr>
          <p:cNvPr id="36" name="文本框 35"/>
          <p:cNvSpPr txBox="1"/>
          <p:nvPr/>
        </p:nvSpPr>
        <p:spPr>
          <a:xfrm>
            <a:off x="2850515" y="4340860"/>
            <a:ext cx="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/>
              <a:t>B </a:t>
            </a:r>
            <a:r>
              <a:rPr lang="zh-CN" altLang="en-US" sz="2800" b="1"/>
              <a:t>地</a:t>
            </a:r>
            <a:endParaRPr lang="zh-CN" altLang="en-US" sz="2800" b="1"/>
          </a:p>
        </p:txBody>
      </p:sp>
      <p:sp>
        <p:nvSpPr>
          <p:cNvPr id="37" name="文本框 36"/>
          <p:cNvSpPr txBox="1"/>
          <p:nvPr/>
        </p:nvSpPr>
        <p:spPr>
          <a:xfrm>
            <a:off x="5316855" y="3550285"/>
            <a:ext cx="2718435" cy="4375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2400" b="1">
                <a:sym typeface="+mn-ea"/>
              </a:rPr>
              <a:t>严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肃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游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戏</a:t>
            </a: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774700" y="1780540"/>
          <a:ext cx="10638155" cy="4034790"/>
        </p:xfrm>
        <a:graphic>
          <a:graphicData uri="http://schemas.openxmlformats.org/drawingml/2006/table">
            <a:tbl>
              <a:tblPr/>
              <a:tblGrid>
                <a:gridCol w="1726565"/>
                <a:gridCol w="1043305"/>
                <a:gridCol w="854075"/>
                <a:gridCol w="1567180"/>
                <a:gridCol w="1077595"/>
                <a:gridCol w="1031240"/>
                <a:gridCol w="3338195"/>
              </a:tblGrid>
              <a:tr h="0">
                <a:tc gridSpan="7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tabLst>
                          <a:tab pos="1903095" algn="l"/>
                        </a:tabLst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行为研究</a:t>
                      </a:r>
                      <a:r>
                        <a:rPr 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的方法谱系</a:t>
                      </a:r>
                      <a:endParaRPr lang="zh-CN" sz="2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0380"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研究方法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8BE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数据类型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8BE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真实性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8BE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因果推断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8BE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时间压力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8BE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博弈互动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8BE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主要局限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8BE7"/>
                    </a:solidFill>
                  </a:tcPr>
                </a:tc>
              </a:tr>
              <a:tr h="529590"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问卷调查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>
                      <a:noFill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陈述偏好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>
                      <a:noFill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低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>
                      <a:noFill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有限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>
                      <a:noFill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>
                      <a:noFill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>
                      <a:noFill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社会期许偏差；陈述并非行为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</a:tr>
              <a:tr h="529590"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情景实验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静态判断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剥离时间压力和博弈互动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</a:tr>
              <a:tr h="529590"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硅基样本、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ABM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模拟数据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可控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行为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≠</a:t>
                      </a: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人类行为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</a:tr>
              <a:tr h="529590"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实验室实验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行为数据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高（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RCT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可控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生态效度低；情境抽象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</a:tr>
              <a:tr h="529590"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严肃游戏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真实行为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高（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RCT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可控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生态效度低于田野实验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 w="9525">
                      <a:solidFill>
                        <a:srgbClr val="8DC7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</a:tr>
              <a:tr h="529590"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田野实验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>
                      <a:noFill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真实行为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高（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RCT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可控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 w="9525">
                      <a:solidFill>
                        <a:srgbClr val="8DC7F5"/>
                      </a:solidFill>
                      <a:prstDash val="solid"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成本极高；不可重复；实验伦理</a:t>
                      </a:r>
                      <a:endParaRPr 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2550" marR="82550" marT="57150" marB="57150" anchor="ctr" anchorCtr="0">
                    <a:lnL w="9525">
                      <a:solidFill>
                        <a:srgbClr val="8DC7F5"/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rgbClr val="8DC7F5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8E2F9">
                        <a:alpha val="40000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0" y="-262255"/>
            <a:ext cx="12334240" cy="1202690"/>
            <a:chOff x="0" y="-413"/>
            <a:chExt cx="19424" cy="1894"/>
          </a:xfrm>
        </p:grpSpPr>
        <p:pic>
          <p:nvPicPr>
            <p:cNvPr id="11" name="图片 10" descr="11"/>
            <p:cNvPicPr>
              <a:picLocks noChangeAspect="1"/>
            </p:cNvPicPr>
            <p:nvPr/>
          </p:nvPicPr>
          <p:blipFill>
            <a:blip r:embed="rId1"/>
            <a:srcRect t="86757" r="14261" b="1554"/>
            <a:stretch>
              <a:fillRect/>
            </a:stretch>
          </p:blipFill>
          <p:spPr>
            <a:xfrm>
              <a:off x="0" y="-391"/>
              <a:ext cx="19425" cy="1487"/>
            </a:xfrm>
            <a:prstGeom prst="rect">
              <a:avLst/>
            </a:prstGeom>
          </p:spPr>
        </p:pic>
        <p:sp>
          <p:nvSpPr>
            <p:cNvPr id="4" name="同侧圆角矩形 3"/>
            <p:cNvSpPr/>
            <p:nvPr/>
          </p:nvSpPr>
          <p:spPr>
            <a:xfrm>
              <a:off x="147" y="183"/>
              <a:ext cx="2400" cy="958"/>
            </a:xfrm>
            <a:prstGeom prst="round2SameRect">
              <a:avLst>
                <a:gd name="adj1" fmla="val 23946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</a:rPr>
                <a:t>研究主题</a:t>
              </a:r>
              <a:endParaRPr lang="zh-CN" altLang="en-US" sz="2400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" name="同侧圆角矩形 5"/>
            <p:cNvSpPr/>
            <p:nvPr/>
          </p:nvSpPr>
          <p:spPr>
            <a:xfrm>
              <a:off x="5091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游戏设计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>
              <a:off x="7563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</a:t>
              </a: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内容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同侧圆角矩形 8"/>
            <p:cNvSpPr/>
            <p:nvPr/>
          </p:nvSpPr>
          <p:spPr>
            <a:xfrm>
              <a:off x="2619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研究意义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3" name="同侧圆角矩形 12"/>
            <p:cNvSpPr/>
            <p:nvPr/>
          </p:nvSpPr>
          <p:spPr>
            <a:xfrm>
              <a:off x="10035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平台建设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同侧圆角矩形 13"/>
            <p:cNvSpPr/>
            <p:nvPr/>
          </p:nvSpPr>
          <p:spPr>
            <a:xfrm>
              <a:off x="12507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预期成果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9985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2457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585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5051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8" name="图片 17" descr="【logo】用于深色底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17269" y="-413"/>
              <a:ext cx="1955" cy="1894"/>
            </a:xfrm>
            <a:prstGeom prst="rect">
              <a:avLst/>
            </a:prstGeom>
          </p:spPr>
        </p:pic>
        <p:grpSp>
          <p:nvGrpSpPr>
            <p:cNvPr id="20" name="组合 19"/>
            <p:cNvGrpSpPr>
              <a:grpSpLocks noChangeAspect="1"/>
            </p:cNvGrpSpPr>
            <p:nvPr/>
          </p:nvGrpSpPr>
          <p:grpSpPr>
            <a:xfrm>
              <a:off x="16501" y="25"/>
              <a:ext cx="1041" cy="1019"/>
              <a:chOff x="16067" y="1829"/>
              <a:chExt cx="1524" cy="152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6296" y="2076"/>
                <a:ext cx="1062" cy="1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12" name="图片 111" descr="院徽"/>
              <p:cNvPicPr>
                <a:picLocks noChangeAspect="1"/>
              </p:cNvPicPr>
              <p:nvPr/>
            </p:nvPicPr>
            <p:blipFill>
              <a:blip r:embed="rId3"/>
              <a:srcRect l="11694" t="11840" r="11803" b="12022"/>
              <a:stretch>
                <a:fillRect/>
              </a:stretch>
            </p:blipFill>
            <p:spPr>
              <a:xfrm>
                <a:off x="16067" y="1829"/>
                <a:ext cx="1524" cy="1524"/>
              </a:xfrm>
              <a:prstGeom prst="rect">
                <a:avLst/>
              </a:prstGeom>
            </p:spPr>
          </p:pic>
        </p:grpSp>
      </p:grpSp>
      <p:sp>
        <p:nvSpPr>
          <p:cNvPr id="17" name="文本框 16"/>
          <p:cNvSpPr txBox="1"/>
          <p:nvPr/>
        </p:nvSpPr>
        <p:spPr>
          <a:xfrm>
            <a:off x="923290" y="940435"/>
            <a:ext cx="79584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/>
              <a:t>从</a:t>
            </a:r>
            <a:r>
              <a:rPr lang="zh-CN" altLang="en-US" sz="2400" b="1"/>
              <a:t>统计推断</a:t>
            </a:r>
            <a:r>
              <a:rPr lang="zh-CN" altLang="en-US" sz="2400"/>
              <a:t>到</a:t>
            </a:r>
            <a:r>
              <a:rPr lang="zh-CN" altLang="en-US" sz="2400" b="1"/>
              <a:t>仿真模拟</a:t>
            </a:r>
            <a:r>
              <a:rPr lang="zh-CN" altLang="en-US" sz="2400"/>
              <a:t>，行为研究的方法正在加速演进</a:t>
            </a:r>
            <a:endParaRPr lang="zh-CN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8" name="组合 37"/>
          <p:cNvGrpSpPr/>
          <p:nvPr/>
        </p:nvGrpSpPr>
        <p:grpSpPr>
          <a:xfrm>
            <a:off x="0" y="-262255"/>
            <a:ext cx="12334875" cy="1202690"/>
            <a:chOff x="0" y="-413"/>
            <a:chExt cx="19425" cy="1894"/>
          </a:xfrm>
        </p:grpSpPr>
        <p:pic>
          <p:nvPicPr>
            <p:cNvPr id="11" name="图片 10" descr="11"/>
            <p:cNvPicPr>
              <a:picLocks noChangeAspect="1"/>
            </p:cNvPicPr>
            <p:nvPr/>
          </p:nvPicPr>
          <p:blipFill>
            <a:blip r:embed="rId1"/>
            <a:srcRect t="86757" r="14261" b="1554"/>
            <a:stretch>
              <a:fillRect/>
            </a:stretch>
          </p:blipFill>
          <p:spPr>
            <a:xfrm>
              <a:off x="0" y="-391"/>
              <a:ext cx="19425" cy="1487"/>
            </a:xfrm>
            <a:prstGeom prst="rect">
              <a:avLst/>
            </a:prstGeom>
          </p:spPr>
        </p:pic>
        <p:sp>
          <p:nvSpPr>
            <p:cNvPr id="4" name="同侧圆角矩形 3"/>
            <p:cNvSpPr/>
            <p:nvPr/>
          </p:nvSpPr>
          <p:spPr>
            <a:xfrm>
              <a:off x="147" y="183"/>
              <a:ext cx="2400" cy="958"/>
            </a:xfrm>
            <a:prstGeom prst="round2SameRect">
              <a:avLst>
                <a:gd name="adj1" fmla="val 23946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研究主题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" name="同侧圆角矩形 5"/>
            <p:cNvSpPr/>
            <p:nvPr/>
          </p:nvSpPr>
          <p:spPr>
            <a:xfrm>
              <a:off x="5091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游戏设计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>
              <a:off x="7563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研究内容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同侧圆角矩形 8"/>
            <p:cNvSpPr/>
            <p:nvPr/>
          </p:nvSpPr>
          <p:spPr>
            <a:xfrm>
              <a:off x="2619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sym typeface="+mn-ea"/>
                </a:rPr>
                <a:t>研究意义</a:t>
              </a:r>
              <a:endParaRPr lang="zh-CN" altLang="en-US" sz="2400" b="1">
                <a:solidFill>
                  <a:schemeClr val="accent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13" name="同侧圆角矩形 12"/>
            <p:cNvSpPr/>
            <p:nvPr/>
          </p:nvSpPr>
          <p:spPr>
            <a:xfrm>
              <a:off x="10035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平台建设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同侧圆角矩形 13"/>
            <p:cNvSpPr/>
            <p:nvPr/>
          </p:nvSpPr>
          <p:spPr>
            <a:xfrm>
              <a:off x="12507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预期成果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9985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2457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585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8" name="图片 17" descr="【logo】用于深色底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17269" y="-413"/>
              <a:ext cx="1955" cy="1894"/>
            </a:xfrm>
            <a:prstGeom prst="rect">
              <a:avLst/>
            </a:prstGeom>
          </p:spPr>
        </p:pic>
        <p:grpSp>
          <p:nvGrpSpPr>
            <p:cNvPr id="20" name="组合 19"/>
            <p:cNvGrpSpPr>
              <a:grpSpLocks noChangeAspect="1"/>
            </p:cNvGrpSpPr>
            <p:nvPr/>
          </p:nvGrpSpPr>
          <p:grpSpPr>
            <a:xfrm>
              <a:off x="16501" y="25"/>
              <a:ext cx="1041" cy="1019"/>
              <a:chOff x="16067" y="1829"/>
              <a:chExt cx="1524" cy="152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6296" y="2076"/>
                <a:ext cx="1062" cy="1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12" name="图片 111" descr="院徽"/>
              <p:cNvPicPr>
                <a:picLocks noChangeAspect="1"/>
              </p:cNvPicPr>
              <p:nvPr/>
            </p:nvPicPr>
            <p:blipFill>
              <a:blip r:embed="rId3"/>
              <a:srcRect l="11694" t="11840" r="11803" b="12022"/>
              <a:stretch>
                <a:fillRect/>
              </a:stretch>
            </p:blipFill>
            <p:spPr>
              <a:xfrm>
                <a:off x="16067" y="1829"/>
                <a:ext cx="1524" cy="1524"/>
              </a:xfrm>
              <a:prstGeom prst="rect">
                <a:avLst/>
              </a:prstGeom>
            </p:spPr>
          </p:pic>
        </p:grpSp>
      </p:grpSp>
      <p:sp>
        <p:nvSpPr>
          <p:cNvPr id="24" name="矩形 23"/>
          <p:cNvSpPr/>
          <p:nvPr/>
        </p:nvSpPr>
        <p:spPr>
          <a:xfrm>
            <a:off x="685165" y="1496060"/>
            <a:ext cx="4015740" cy="2142490"/>
          </a:xfrm>
          <a:prstGeom prst="rect">
            <a:avLst/>
          </a:prstGeom>
          <a:ln w="12700">
            <a:gradFill>
              <a:gsLst>
                <a:gs pos="0">
                  <a:srgbClr val="2797EB"/>
                </a:gs>
                <a:gs pos="100000">
                  <a:srgbClr val="228BE7"/>
                </a:gs>
                <a:gs pos="47000">
                  <a:srgbClr val="0030C7"/>
                </a:gs>
              </a:gsLst>
              <a:lin ang="180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30910" y="1136015"/>
            <a:ext cx="1736725" cy="495935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200" b="1">
                <a:solidFill>
                  <a:schemeClr val="bg1"/>
                </a:solidFill>
                <a:sym typeface="+mn-ea"/>
              </a:rPr>
              <a:t>理论方面</a:t>
            </a:r>
            <a:endParaRPr lang="zh-CN" altLang="en-US" sz="2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43280" y="1670685"/>
            <a:ext cx="367919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just" fontAlgn="auto">
              <a:lnSpc>
                <a:spcPct val="140000"/>
              </a:lnSpc>
            </a:pPr>
            <a:r>
              <a:rPr lang="zh-CN" altLang="en-US" sz="2000"/>
              <a:t>深化</a:t>
            </a:r>
            <a:r>
              <a:rPr lang="zh-CN" altLang="en-US" sz="2000" b="1"/>
              <a:t>制度情境影响策略性行为的因果机制</a:t>
            </a:r>
            <a:r>
              <a:rPr lang="zh-CN" altLang="en-US" sz="2000"/>
              <a:t>研究，推进</a:t>
            </a:r>
            <a:r>
              <a:rPr lang="zh-CN" altLang="en-US" sz="2000" b="1"/>
              <a:t>以行动者为中心的制度主义</a:t>
            </a:r>
            <a:r>
              <a:rPr lang="zh-CN" altLang="en-US" sz="2000"/>
              <a:t>理论发展</a:t>
            </a:r>
            <a:endParaRPr lang="zh-CN" altLang="en-US" sz="2000"/>
          </a:p>
        </p:txBody>
      </p:sp>
      <p:sp>
        <p:nvSpPr>
          <p:cNvPr id="16" name="矩形 15"/>
          <p:cNvSpPr/>
          <p:nvPr/>
        </p:nvSpPr>
        <p:spPr>
          <a:xfrm>
            <a:off x="7823200" y="1496695"/>
            <a:ext cx="3731895" cy="2134235"/>
          </a:xfrm>
          <a:prstGeom prst="rect">
            <a:avLst/>
          </a:prstGeom>
          <a:ln w="12700">
            <a:gradFill>
              <a:gsLst>
                <a:gs pos="0">
                  <a:srgbClr val="2797EB"/>
                </a:gs>
                <a:gs pos="100000">
                  <a:srgbClr val="228BE7"/>
                </a:gs>
                <a:gs pos="47000">
                  <a:srgbClr val="0030C7"/>
                </a:gs>
              </a:gsLst>
              <a:lin ang="180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68945" y="1136650"/>
            <a:ext cx="1736725" cy="495935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200" b="1">
                <a:solidFill>
                  <a:schemeClr val="bg1"/>
                </a:solidFill>
                <a:sym typeface="+mn-ea"/>
              </a:rPr>
              <a:t>方法</a:t>
            </a:r>
            <a:r>
              <a:rPr lang="zh-CN" altLang="en-US" sz="2200" b="1">
                <a:solidFill>
                  <a:schemeClr val="bg1"/>
                </a:solidFill>
                <a:sym typeface="+mn-ea"/>
              </a:rPr>
              <a:t>方面</a:t>
            </a:r>
            <a:endParaRPr lang="zh-CN" altLang="en-US" sz="2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971790" y="1871345"/>
            <a:ext cx="33769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just" fontAlgn="auto">
              <a:lnSpc>
                <a:spcPct val="140000"/>
              </a:lnSpc>
            </a:pPr>
            <a:r>
              <a:rPr lang="zh-CN" altLang="en-US" sz="2000"/>
              <a:t>将</a:t>
            </a:r>
            <a:r>
              <a:rPr lang="zh-CN" altLang="en-US" sz="2000" b="1"/>
              <a:t>严肃游戏</a:t>
            </a:r>
            <a:r>
              <a:rPr lang="zh-CN" altLang="en-US" sz="2000"/>
              <a:t>引入公共管理和政治学研究，探索行为研究的新范式</a:t>
            </a:r>
            <a:endParaRPr lang="zh-CN" altLang="en-US" sz="2000"/>
          </a:p>
        </p:txBody>
      </p:sp>
      <p:sp>
        <p:nvSpPr>
          <p:cNvPr id="25" name="矩形 24"/>
          <p:cNvSpPr/>
          <p:nvPr/>
        </p:nvSpPr>
        <p:spPr>
          <a:xfrm>
            <a:off x="2635250" y="4246245"/>
            <a:ext cx="6896100" cy="2212975"/>
          </a:xfrm>
          <a:prstGeom prst="rect">
            <a:avLst/>
          </a:prstGeom>
          <a:ln w="12700">
            <a:gradFill>
              <a:gsLst>
                <a:gs pos="0">
                  <a:srgbClr val="2797EB"/>
                </a:gs>
                <a:gs pos="100000">
                  <a:srgbClr val="228BE7"/>
                </a:gs>
                <a:gs pos="47000">
                  <a:srgbClr val="0030C7"/>
                </a:gs>
              </a:gsLst>
              <a:lin ang="180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214620" y="3934460"/>
            <a:ext cx="1736725" cy="495935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200" b="1">
                <a:solidFill>
                  <a:schemeClr val="bg1"/>
                </a:solidFill>
                <a:sym typeface="+mn-ea"/>
              </a:rPr>
              <a:t>实践方面</a:t>
            </a:r>
            <a:endParaRPr lang="zh-CN" altLang="en-US" sz="2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774315" y="4430395"/>
            <a:ext cx="6623050" cy="1814830"/>
          </a:xfrm>
          <a:prstGeom prst="rect">
            <a:avLst/>
          </a:prstGeom>
          <a:noFill/>
        </p:spPr>
        <p:txBody>
          <a:bodyPr vert="horz" wrap="square" numCol="1" spcCol="0" rtlCol="0" fromWordArt="0" anchor="t" anchorCtr="0" forceAA="0" compatLnSpc="0">
            <a:spAutoFit/>
          </a:bodyPr>
          <a:p>
            <a:pPr lvl="0" indent="457200" algn="just">
              <a:lnSpc>
                <a:spcPct val="140000"/>
              </a:lnSpc>
              <a:buClrTx/>
              <a:buSzTx/>
              <a:buFontTx/>
            </a:pPr>
            <a:r>
              <a:rPr lang="zh-CN" altLang="en-US" sz="2000" b="1">
                <a:sym typeface="+mn-ea"/>
              </a:rPr>
              <a:t>教育教学</a:t>
            </a:r>
            <a:r>
              <a:rPr lang="zh-CN" altLang="en-US" sz="2000">
                <a:sym typeface="+mn-ea"/>
              </a:rPr>
              <a:t>：嵌入理论教学、</a:t>
            </a:r>
            <a:r>
              <a:rPr lang="zh-CN" altLang="en-US" sz="2000">
                <a:sym typeface="+mn-ea"/>
              </a:rPr>
              <a:t>MPA</a:t>
            </a:r>
            <a:r>
              <a:rPr lang="zh-CN" altLang="en-US" sz="2000">
                <a:sym typeface="+mn-ea"/>
              </a:rPr>
              <a:t>课程与干部培训，帮助学生在制度情境中理解行动者的行为逻辑</a:t>
            </a:r>
            <a:endParaRPr lang="zh-CN" altLang="en-US" sz="2000">
              <a:sym typeface="+mn-ea"/>
            </a:endParaRPr>
          </a:p>
          <a:p>
            <a:pPr lvl="0" indent="457200" algn="just">
              <a:lnSpc>
                <a:spcPct val="140000"/>
              </a:lnSpc>
              <a:buClrTx/>
              <a:buSzTx/>
              <a:buFontTx/>
            </a:pPr>
            <a:r>
              <a:rPr lang="zh-CN" altLang="en-US" sz="2000" b="1">
                <a:sym typeface="+mn-ea"/>
              </a:rPr>
              <a:t>科学研究</a:t>
            </a:r>
            <a:r>
              <a:rPr lang="zh-CN" altLang="en-US" sz="2000">
                <a:sym typeface="+mn-ea"/>
              </a:rPr>
              <a:t>：提供可配置的开放实验环境与共享行为数据集，支持官员行为、集体行动等议题的交叉学科研究</a:t>
            </a:r>
            <a:endParaRPr lang="zh-CN" altLang="en-US" sz="2000">
              <a:sym typeface="+mn-ea"/>
            </a:endParaRPr>
          </a:p>
        </p:txBody>
      </p:sp>
      <p:grpSp>
        <p:nvGrpSpPr>
          <p:cNvPr id="4856" name="Google Shape;4856;p74"/>
          <p:cNvGrpSpPr/>
          <p:nvPr/>
        </p:nvGrpSpPr>
        <p:grpSpPr>
          <a:xfrm rot="10800000">
            <a:off x="4802505" y="1341120"/>
            <a:ext cx="2555240" cy="2397760"/>
            <a:chOff x="1706078" y="2092648"/>
            <a:chExt cx="660913" cy="637296"/>
          </a:xfrm>
        </p:grpSpPr>
        <p:sp>
          <p:nvSpPr>
            <p:cNvPr id="4857" name="Google Shape;4857;p74"/>
            <p:cNvSpPr/>
            <p:nvPr/>
          </p:nvSpPr>
          <p:spPr>
            <a:xfrm>
              <a:off x="1745332" y="2158066"/>
              <a:ext cx="571867" cy="571878"/>
            </a:xfrm>
            <a:custGeom>
              <a:avLst/>
              <a:gdLst/>
              <a:ahLst/>
              <a:cxnLst/>
              <a:rect l="l" t="t" r="r" b="b"/>
              <a:pathLst>
                <a:path w="107747" h="107749" extrusionOk="0">
                  <a:moveTo>
                    <a:pt x="53874" y="11565"/>
                  </a:moveTo>
                  <a:cubicBezTo>
                    <a:pt x="77238" y="11565"/>
                    <a:pt x="96182" y="30509"/>
                    <a:pt x="96182" y="53873"/>
                  </a:cubicBezTo>
                  <a:cubicBezTo>
                    <a:pt x="96182" y="77240"/>
                    <a:pt x="77240" y="96182"/>
                    <a:pt x="53874" y="96182"/>
                  </a:cubicBezTo>
                  <a:cubicBezTo>
                    <a:pt x="30507" y="96182"/>
                    <a:pt x="11565" y="77240"/>
                    <a:pt x="11565" y="53873"/>
                  </a:cubicBezTo>
                  <a:cubicBezTo>
                    <a:pt x="11565" y="30509"/>
                    <a:pt x="30507" y="11565"/>
                    <a:pt x="53874" y="11565"/>
                  </a:cubicBezTo>
                  <a:close/>
                  <a:moveTo>
                    <a:pt x="53874" y="1"/>
                  </a:moveTo>
                  <a:cubicBezTo>
                    <a:pt x="24120" y="1"/>
                    <a:pt x="1" y="24120"/>
                    <a:pt x="1" y="53873"/>
                  </a:cubicBezTo>
                  <a:cubicBezTo>
                    <a:pt x="1" y="83626"/>
                    <a:pt x="24120" y="107748"/>
                    <a:pt x="53874" y="107748"/>
                  </a:cubicBezTo>
                  <a:cubicBezTo>
                    <a:pt x="83625" y="107748"/>
                    <a:pt x="107746" y="83626"/>
                    <a:pt x="107746" y="53873"/>
                  </a:cubicBezTo>
                  <a:cubicBezTo>
                    <a:pt x="107746" y="24120"/>
                    <a:pt x="83627" y="1"/>
                    <a:pt x="53874" y="1"/>
                  </a:cubicBezTo>
                  <a:close/>
                </a:path>
              </a:pathLst>
            </a:custGeom>
            <a:noFill/>
            <a:ln w="9525">
              <a:solidFill>
                <a:srgbClr val="2586E4">
                  <a:alpha val="62000"/>
                </a:srgb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FD9E0"/>
                  </a:solidFill>
                </a14:hiddenFill>
              </a:ext>
            </a:ex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grpSp>
          <p:nvGrpSpPr>
            <p:cNvPr id="4858" name="Google Shape;4858;p74"/>
            <p:cNvGrpSpPr/>
            <p:nvPr/>
          </p:nvGrpSpPr>
          <p:grpSpPr>
            <a:xfrm>
              <a:off x="1706078" y="2092648"/>
              <a:ext cx="660913" cy="575241"/>
              <a:chOff x="1706078" y="2092648"/>
              <a:chExt cx="660913" cy="575241"/>
            </a:xfrm>
          </p:grpSpPr>
          <p:sp>
            <p:nvSpPr>
              <p:cNvPr id="4859" name="Google Shape;4859;p74"/>
              <p:cNvSpPr/>
              <p:nvPr/>
            </p:nvSpPr>
            <p:spPr>
              <a:xfrm>
                <a:off x="1938891" y="2092648"/>
                <a:ext cx="192041" cy="353676"/>
              </a:xfrm>
              <a:custGeom>
                <a:avLst/>
                <a:gdLst/>
                <a:ahLst/>
                <a:cxnLst/>
                <a:rect l="l" t="t" r="r" b="b"/>
                <a:pathLst>
                  <a:path w="36183" h="66637" extrusionOk="0">
                    <a:moveTo>
                      <a:pt x="18094" y="1"/>
                    </a:moveTo>
                    <a:cubicBezTo>
                      <a:pt x="8801" y="1"/>
                      <a:pt x="1202" y="7552"/>
                      <a:pt x="1202" y="16877"/>
                    </a:cubicBezTo>
                    <a:cubicBezTo>
                      <a:pt x="1202" y="23723"/>
                      <a:pt x="5288" y="29491"/>
                      <a:pt x="11057" y="32260"/>
                    </a:cubicBezTo>
                    <a:cubicBezTo>
                      <a:pt x="13944" y="33580"/>
                      <a:pt x="15864" y="36464"/>
                      <a:pt x="15864" y="39714"/>
                    </a:cubicBezTo>
                    <a:cubicBezTo>
                      <a:pt x="15864" y="42954"/>
                      <a:pt x="13829" y="45963"/>
                      <a:pt x="10817" y="47040"/>
                    </a:cubicBezTo>
                    <a:cubicBezTo>
                      <a:pt x="6250" y="48723"/>
                      <a:pt x="2404" y="51972"/>
                      <a:pt x="1" y="56176"/>
                    </a:cubicBezTo>
                    <a:lnTo>
                      <a:pt x="18155" y="66637"/>
                    </a:lnTo>
                    <a:lnTo>
                      <a:pt x="36182" y="56176"/>
                    </a:lnTo>
                    <a:cubicBezTo>
                      <a:pt x="33779" y="51975"/>
                      <a:pt x="29930" y="48725"/>
                      <a:pt x="25479" y="47040"/>
                    </a:cubicBezTo>
                    <a:cubicBezTo>
                      <a:pt x="22352" y="45966"/>
                      <a:pt x="20316" y="42957"/>
                      <a:pt x="20316" y="39714"/>
                    </a:cubicBezTo>
                    <a:lnTo>
                      <a:pt x="20316" y="39474"/>
                    </a:lnTo>
                    <a:cubicBezTo>
                      <a:pt x="20316" y="36349"/>
                      <a:pt x="22239" y="33578"/>
                      <a:pt x="24998" y="32260"/>
                    </a:cubicBezTo>
                    <a:cubicBezTo>
                      <a:pt x="31250" y="29491"/>
                      <a:pt x="35461" y="22999"/>
                      <a:pt x="34980" y="15676"/>
                    </a:cubicBezTo>
                    <a:cubicBezTo>
                      <a:pt x="34375" y="7376"/>
                      <a:pt x="27644" y="646"/>
                      <a:pt x="19357" y="47"/>
                    </a:cubicBezTo>
                    <a:cubicBezTo>
                      <a:pt x="18933" y="18"/>
                      <a:pt x="18513" y="1"/>
                      <a:pt x="18094" y="1"/>
                    </a:cubicBezTo>
                    <a:close/>
                  </a:path>
                </a:pathLst>
              </a:custGeom>
              <a:solidFill>
                <a:srgbClr val="053EC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860" name="Google Shape;4860;p74"/>
              <p:cNvSpPr/>
              <p:nvPr/>
            </p:nvSpPr>
            <p:spPr>
              <a:xfrm>
                <a:off x="1706078" y="2390779"/>
                <a:ext cx="329208" cy="277004"/>
              </a:xfrm>
              <a:custGeom>
                <a:avLst/>
                <a:gdLst/>
                <a:ahLst/>
                <a:cxnLst/>
                <a:rect l="l" t="t" r="r" b="b"/>
                <a:pathLst>
                  <a:path w="62027" h="52191" extrusionOk="0">
                    <a:moveTo>
                      <a:pt x="43872" y="1"/>
                    </a:moveTo>
                    <a:cubicBezTo>
                      <a:pt x="41468" y="4212"/>
                      <a:pt x="40629" y="9019"/>
                      <a:pt x="41353" y="13829"/>
                    </a:cubicBezTo>
                    <a:cubicBezTo>
                      <a:pt x="41946" y="17069"/>
                      <a:pt x="40389" y="20321"/>
                      <a:pt x="37504" y="21878"/>
                    </a:cubicBezTo>
                    <a:lnTo>
                      <a:pt x="37379" y="22004"/>
                    </a:lnTo>
                    <a:cubicBezTo>
                      <a:pt x="36131" y="22712"/>
                      <a:pt x="34723" y="23085"/>
                      <a:pt x="33288" y="23090"/>
                    </a:cubicBezTo>
                    <a:cubicBezTo>
                      <a:pt x="31652" y="23095"/>
                      <a:pt x="30056" y="22587"/>
                      <a:pt x="28724" y="21638"/>
                    </a:cubicBezTo>
                    <a:cubicBezTo>
                      <a:pt x="25815" y="19553"/>
                      <a:pt x="22344" y="18435"/>
                      <a:pt x="18815" y="18435"/>
                    </a:cubicBezTo>
                    <a:cubicBezTo>
                      <a:pt x="15632" y="18435"/>
                      <a:pt x="12399" y="19345"/>
                      <a:pt x="9490" y="21282"/>
                    </a:cubicBezTo>
                    <a:cubicBezTo>
                      <a:pt x="2520" y="25965"/>
                      <a:pt x="1" y="35101"/>
                      <a:pt x="3721" y="42677"/>
                    </a:cubicBezTo>
                    <a:cubicBezTo>
                      <a:pt x="6677" y="48755"/>
                      <a:pt x="12664" y="52191"/>
                      <a:pt x="18840" y="52191"/>
                    </a:cubicBezTo>
                    <a:cubicBezTo>
                      <a:pt x="21707" y="52191"/>
                      <a:pt x="24613" y="51450"/>
                      <a:pt x="27282" y="49890"/>
                    </a:cubicBezTo>
                    <a:cubicBezTo>
                      <a:pt x="33291" y="46525"/>
                      <a:pt x="36303" y="40151"/>
                      <a:pt x="35694" y="33659"/>
                    </a:cubicBezTo>
                    <a:cubicBezTo>
                      <a:pt x="35456" y="30534"/>
                      <a:pt x="37024" y="27407"/>
                      <a:pt x="39783" y="25852"/>
                    </a:cubicBezTo>
                    <a:cubicBezTo>
                      <a:pt x="41044" y="25114"/>
                      <a:pt x="42424" y="24748"/>
                      <a:pt x="43786" y="24748"/>
                    </a:cubicBezTo>
                    <a:cubicBezTo>
                      <a:pt x="45537" y="24748"/>
                      <a:pt x="47261" y="25356"/>
                      <a:pt x="48676" y="26573"/>
                    </a:cubicBezTo>
                    <a:cubicBezTo>
                      <a:pt x="52525" y="29572"/>
                      <a:pt x="57216" y="31255"/>
                      <a:pt x="62026" y="31255"/>
                    </a:cubicBezTo>
                    <a:lnTo>
                      <a:pt x="62026" y="10461"/>
                    </a:lnTo>
                    <a:close/>
                  </a:path>
                </a:pathLst>
              </a:custGeom>
              <a:solidFill>
                <a:srgbClr val="8DC7F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861" name="Google Shape;4861;p74"/>
              <p:cNvSpPr/>
              <p:nvPr/>
            </p:nvSpPr>
            <p:spPr>
              <a:xfrm>
                <a:off x="2035235" y="2390779"/>
                <a:ext cx="331756" cy="277110"/>
              </a:xfrm>
              <a:custGeom>
                <a:avLst/>
                <a:gdLst/>
                <a:ahLst/>
                <a:cxnLst/>
                <a:rect l="l" t="t" r="r" b="b"/>
                <a:pathLst>
                  <a:path w="62507" h="52211" extrusionOk="0">
                    <a:moveTo>
                      <a:pt x="18030" y="1"/>
                    </a:moveTo>
                    <a:lnTo>
                      <a:pt x="0" y="10461"/>
                    </a:lnTo>
                    <a:lnTo>
                      <a:pt x="0" y="31253"/>
                    </a:lnTo>
                    <a:cubicBezTo>
                      <a:pt x="4807" y="31253"/>
                      <a:pt x="9489" y="29570"/>
                      <a:pt x="13222" y="26570"/>
                    </a:cubicBezTo>
                    <a:cubicBezTo>
                      <a:pt x="15722" y="24434"/>
                      <a:pt x="19307" y="24145"/>
                      <a:pt x="22118" y="25849"/>
                    </a:cubicBezTo>
                    <a:lnTo>
                      <a:pt x="22359" y="25965"/>
                    </a:lnTo>
                    <a:cubicBezTo>
                      <a:pt x="25003" y="27532"/>
                      <a:pt x="26560" y="30534"/>
                      <a:pt x="26204" y="33659"/>
                    </a:cubicBezTo>
                    <a:cubicBezTo>
                      <a:pt x="25599" y="40389"/>
                      <a:pt x="28964" y="47244"/>
                      <a:pt x="35578" y="50486"/>
                    </a:cubicBezTo>
                    <a:cubicBezTo>
                      <a:pt x="37877" y="51619"/>
                      <a:pt x="40405" y="52210"/>
                      <a:pt x="42968" y="52208"/>
                    </a:cubicBezTo>
                    <a:cubicBezTo>
                      <a:pt x="48435" y="52208"/>
                      <a:pt x="53755" y="49544"/>
                      <a:pt x="56978" y="44840"/>
                    </a:cubicBezTo>
                    <a:cubicBezTo>
                      <a:pt x="62506" y="36540"/>
                      <a:pt x="59862" y="25484"/>
                      <a:pt x="51447" y="20674"/>
                    </a:cubicBezTo>
                    <a:cubicBezTo>
                      <a:pt x="48774" y="19149"/>
                      <a:pt x="45855" y="18413"/>
                      <a:pt x="42983" y="18413"/>
                    </a:cubicBezTo>
                    <a:cubicBezTo>
                      <a:pt x="39520" y="18413"/>
                      <a:pt x="36121" y="19482"/>
                      <a:pt x="33290" y="21523"/>
                    </a:cubicBezTo>
                    <a:cubicBezTo>
                      <a:pt x="30671" y="23429"/>
                      <a:pt x="27161" y="23571"/>
                      <a:pt x="24397" y="21878"/>
                    </a:cubicBezTo>
                    <a:cubicBezTo>
                      <a:pt x="21510" y="20321"/>
                      <a:pt x="19955" y="17069"/>
                      <a:pt x="20549" y="13829"/>
                    </a:cubicBezTo>
                    <a:cubicBezTo>
                      <a:pt x="21272" y="9019"/>
                      <a:pt x="20433" y="4212"/>
                      <a:pt x="18030" y="1"/>
                    </a:cubicBezTo>
                    <a:close/>
                  </a:path>
                </a:pathLst>
              </a:custGeom>
              <a:solidFill>
                <a:srgbClr val="2586E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2" descr="1e82e26b9343596daa9f8541788837f"/>
          <p:cNvPicPr>
            <a:picLocks noChangeAspect="1"/>
          </p:cNvPicPr>
          <p:nvPr/>
        </p:nvPicPr>
        <p:blipFill>
          <a:blip r:embed="rId1"/>
          <a:srcRect l="22471" t="8441" r="20995" b="15702"/>
          <a:stretch>
            <a:fillRect/>
          </a:stretch>
        </p:blipFill>
        <p:spPr>
          <a:xfrm>
            <a:off x="6199505" y="1406525"/>
            <a:ext cx="5725160" cy="4323715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>
            <a:off x="0" y="-262255"/>
            <a:ext cx="12334875" cy="1202690"/>
            <a:chOff x="0" y="-413"/>
            <a:chExt cx="19425" cy="1894"/>
          </a:xfrm>
        </p:grpSpPr>
        <p:pic>
          <p:nvPicPr>
            <p:cNvPr id="11" name="图片 10" descr="11"/>
            <p:cNvPicPr>
              <a:picLocks noChangeAspect="1"/>
            </p:cNvPicPr>
            <p:nvPr/>
          </p:nvPicPr>
          <p:blipFill>
            <a:blip r:embed="rId2"/>
            <a:srcRect t="86757" r="14261" b="1554"/>
            <a:stretch>
              <a:fillRect/>
            </a:stretch>
          </p:blipFill>
          <p:spPr>
            <a:xfrm>
              <a:off x="0" y="-391"/>
              <a:ext cx="19425" cy="1487"/>
            </a:xfrm>
            <a:prstGeom prst="rect">
              <a:avLst/>
            </a:prstGeom>
          </p:spPr>
        </p:pic>
        <p:sp>
          <p:nvSpPr>
            <p:cNvPr id="5" name="同侧圆角矩形 4"/>
            <p:cNvSpPr/>
            <p:nvPr/>
          </p:nvSpPr>
          <p:spPr>
            <a:xfrm>
              <a:off x="147" y="183"/>
              <a:ext cx="2400" cy="958"/>
            </a:xfrm>
            <a:prstGeom prst="round2SameRect">
              <a:avLst>
                <a:gd name="adj1" fmla="val 23946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研究主题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" name="同侧圆角矩形 5"/>
            <p:cNvSpPr/>
            <p:nvPr/>
          </p:nvSpPr>
          <p:spPr>
            <a:xfrm>
              <a:off x="5091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sym typeface="+mn-ea"/>
                </a:rPr>
                <a:t>游戏设计</a:t>
              </a:r>
              <a:endParaRPr lang="zh-CN" altLang="en-US" sz="2400" b="1">
                <a:solidFill>
                  <a:schemeClr val="accent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>
              <a:off x="7563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研究内容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同侧圆角矩形 8"/>
            <p:cNvSpPr/>
            <p:nvPr/>
          </p:nvSpPr>
          <p:spPr>
            <a:xfrm>
              <a:off x="2619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研究意义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3" name="同侧圆角矩形 12"/>
            <p:cNvSpPr/>
            <p:nvPr/>
          </p:nvSpPr>
          <p:spPr>
            <a:xfrm>
              <a:off x="10035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平台建设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同侧圆角矩形 13"/>
            <p:cNvSpPr/>
            <p:nvPr/>
          </p:nvSpPr>
          <p:spPr>
            <a:xfrm>
              <a:off x="12507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预期成果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9999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2457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8" name="图片 17" descr="【logo】用于深色底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269" y="-413"/>
              <a:ext cx="1955" cy="1894"/>
            </a:xfrm>
            <a:prstGeom prst="rect">
              <a:avLst/>
            </a:prstGeom>
          </p:spPr>
        </p:pic>
        <p:grpSp>
          <p:nvGrpSpPr>
            <p:cNvPr id="20" name="组合 19"/>
            <p:cNvGrpSpPr>
              <a:grpSpLocks noChangeAspect="1"/>
            </p:cNvGrpSpPr>
            <p:nvPr/>
          </p:nvGrpSpPr>
          <p:grpSpPr>
            <a:xfrm>
              <a:off x="16501" y="25"/>
              <a:ext cx="1041" cy="1019"/>
              <a:chOff x="16067" y="1829"/>
              <a:chExt cx="1524" cy="152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6296" y="2076"/>
                <a:ext cx="1062" cy="1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12" name="图片 111" descr="院徽"/>
              <p:cNvPicPr>
                <a:picLocks noChangeAspect="1"/>
              </p:cNvPicPr>
              <p:nvPr/>
            </p:nvPicPr>
            <p:blipFill>
              <a:blip r:embed="rId4"/>
              <a:srcRect l="11694" t="11840" r="11803" b="12022"/>
              <a:stretch>
                <a:fillRect/>
              </a:stretch>
            </p:blipFill>
            <p:spPr>
              <a:xfrm>
                <a:off x="16067" y="1829"/>
                <a:ext cx="1524" cy="1524"/>
              </a:xfrm>
              <a:prstGeom prst="rect">
                <a:avLst/>
              </a:prstGeom>
            </p:spPr>
          </p:pic>
        </p:grpSp>
      </p:grpSp>
      <p:cxnSp>
        <p:nvCxnSpPr>
          <p:cNvPr id="15" name="直接连接符 14"/>
          <p:cNvCxnSpPr/>
          <p:nvPr/>
        </p:nvCxnSpPr>
        <p:spPr>
          <a:xfrm>
            <a:off x="1617345" y="231140"/>
            <a:ext cx="0" cy="43180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84810" y="940435"/>
            <a:ext cx="1829435" cy="46800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场景设定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4810" y="3166110"/>
            <a:ext cx="3243580" cy="467995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2000" b="1">
                <a:solidFill>
                  <a:schemeClr val="bg1"/>
                </a:solidFill>
                <a:sym typeface="+mn-ea"/>
              </a:rPr>
              <a:t>“</a:t>
            </a:r>
            <a:r>
              <a:rPr lang="zh-CN" altLang="en-US" sz="2000" b="1">
                <a:solidFill>
                  <a:schemeClr val="bg1"/>
                </a:solidFill>
                <a:sym typeface="+mn-ea"/>
              </a:rPr>
              <a:t>剧本杀</a:t>
            </a:r>
            <a:r>
              <a:rPr lang="en-US" altLang="zh-CN" sz="2000" b="1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2000" b="1">
                <a:solidFill>
                  <a:schemeClr val="bg1"/>
                </a:solidFill>
                <a:sym typeface="+mn-ea"/>
              </a:rPr>
              <a:t>式的设计原则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81990" y="1406525"/>
            <a:ext cx="566737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/>
              <a:t>A县</a:t>
            </a:r>
            <a:r>
              <a:rPr lang="zh-CN" altLang="en-US" sz="2000"/>
              <a:t>（上游，排污方）</a:t>
            </a:r>
            <a:r>
              <a:rPr lang="en-US" altLang="zh-CN" sz="2000"/>
              <a:t>VS </a:t>
            </a:r>
            <a:r>
              <a:rPr lang="zh-CN" altLang="en-US" sz="2000"/>
              <a:t> </a:t>
            </a:r>
            <a:r>
              <a:rPr lang="zh-CN" altLang="en-US" sz="2000" b="1"/>
              <a:t>B县</a:t>
            </a:r>
            <a:r>
              <a:rPr lang="zh-CN" altLang="en-US" sz="2000"/>
              <a:t>（下游，受害方）</a:t>
            </a:r>
            <a:endParaRPr lang="zh-CN" altLang="en-US" sz="2000"/>
          </a:p>
          <a:p>
            <a:pPr marL="34290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/>
              <a:t>监测异常与群众举报，面临责任认定、信息管控与对外应对的多重压力</a:t>
            </a:r>
            <a:endParaRPr lang="zh-CN" altLang="en-US" sz="2000"/>
          </a:p>
          <a:p>
            <a:pPr marL="34290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/>
              <a:t>上级督察组即将进驻</a:t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681990" y="3635375"/>
            <a:ext cx="545211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/>
              <a:t>每人拿到只有自己可见的角色剧本，含考核指标、独占信息与隐藏任务</a:t>
            </a:r>
            <a:endParaRPr lang="zh-CN" altLang="en-US" sz="2000"/>
          </a:p>
          <a:p>
            <a:pPr marL="34290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/>
              <a:t>得分规则开局公开，私有信息各方不同，无法在开局预判最优策略</a:t>
            </a:r>
            <a:endParaRPr lang="zh-CN" altLang="en-US" sz="2000"/>
          </a:p>
          <a:p>
            <a:pPr marL="34290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/>
              <a:t>合作、对抗、隐瞒、披露均可导向不同结局</a:t>
            </a: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384810" y="891540"/>
            <a:ext cx="1829435" cy="46800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核心角色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523240" y="1463040"/>
            <a:ext cx="5572760" cy="53346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lvl="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sym typeface="+mn-ea"/>
              </a:rPr>
              <a:t>决策者（A县县长 + B县县长）</a:t>
            </a:r>
            <a:endParaRPr lang="zh-CN" altLang="en-US" sz="2000">
              <a:sym typeface="+mn-ea"/>
            </a:endParaRPr>
          </a:p>
          <a:p>
            <a:pPr lvl="0" indent="457200" algn="just" fontAlgn="auto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ym typeface="+mn-ea"/>
              </a:rPr>
              <a:t>知晓本县绩效得分与考核权重，不知对方私信内容；综合绩效 = 污染削减量 × α + 社会稳定指数 × β − 受问责频次 × γ，权重系数作为实验处理变量</a:t>
            </a:r>
            <a:endParaRPr lang="zh-CN" altLang="en-US">
              <a:sym typeface="+mn-ea"/>
            </a:endParaRPr>
          </a:p>
          <a:p>
            <a:pPr marL="342900" lvl="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sym typeface="+mn-ea"/>
              </a:rPr>
              <a:t>执行者（A县环保局长 + B县环保局长）</a:t>
            </a:r>
            <a:endParaRPr lang="zh-CN" altLang="en-US" sz="2000">
              <a:sym typeface="+mn-ea"/>
            </a:endParaRPr>
          </a:p>
          <a:p>
            <a:pPr lvl="0" indent="4572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ym typeface="+mn-ea"/>
              </a:rPr>
              <a:t>分别掌握辖区企业排污台账；A县环保局长知晓存在历史异常数据但前任曾指示暂不上报；执法积分 = 处罚时效 + 整改核验率 + 上报准确度</a:t>
            </a:r>
            <a:endParaRPr lang="zh-CN" altLang="en-US">
              <a:sym typeface="+mn-ea"/>
            </a:endParaRPr>
          </a:p>
          <a:p>
            <a:pPr marL="342900" lvl="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sym typeface="+mn-ea"/>
              </a:rPr>
              <a:t>监督者（新闻媒体/社会组织）</a:t>
            </a:r>
            <a:endParaRPr lang="zh-CN" altLang="en-US" sz="2000" b="1">
              <a:sym typeface="+mn-ea"/>
            </a:endParaRPr>
          </a:p>
          <a:p>
            <a:pPr lvl="0" indent="457200" algn="just">
              <a:lnSpc>
                <a:spcPct val="110000"/>
              </a:lnSpc>
              <a:spcAft>
                <a:spcPts val="600"/>
              </a:spcAft>
              <a:buClrTx/>
              <a:buSzTx/>
              <a:buNone/>
            </a:pPr>
            <a:r>
              <a:rPr lang="zh-CN" altLang="en-US">
                <a:sym typeface="+mn-ea"/>
              </a:rPr>
              <a:t>可查阅公开频道全部记录；掌握一份独立检测报告，显示污染物浓度高于官方数据；曝光分 = 核实报道数 + 信息披露效果。</a:t>
            </a:r>
            <a:endParaRPr lang="zh-CN" altLang="en-US">
              <a:sym typeface="+mn-ea"/>
            </a:endParaRPr>
          </a:p>
          <a:p>
            <a:pPr marL="342900" lvl="0" indent="-3429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sym typeface="+mn-ea"/>
              </a:rPr>
              <a:t>基于LLM的NPC</a:t>
            </a:r>
            <a:endParaRPr lang="zh-CN" altLang="en-US" sz="2000" b="1">
              <a:sym typeface="+mn-ea"/>
            </a:endParaRPr>
          </a:p>
          <a:p>
            <a:pPr lvl="0" indent="457200" algn="just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ym typeface="+mn-ea"/>
              </a:rPr>
              <a:t>督察专员（按实验条件触发核查）；社会公众（动态施压，随博弈进展升级）</a:t>
            </a:r>
            <a:endParaRPr lang="zh-CN" altLang="en-US">
              <a:sym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0" y="-262255"/>
            <a:ext cx="12334875" cy="1202690"/>
            <a:chOff x="0" y="-413"/>
            <a:chExt cx="19425" cy="1894"/>
          </a:xfrm>
        </p:grpSpPr>
        <p:pic>
          <p:nvPicPr>
            <p:cNvPr id="2" name="图片 1" descr="11"/>
            <p:cNvPicPr>
              <a:picLocks noChangeAspect="1"/>
            </p:cNvPicPr>
            <p:nvPr/>
          </p:nvPicPr>
          <p:blipFill>
            <a:blip r:embed="rId3"/>
            <a:srcRect t="86757" r="14261" b="1554"/>
            <a:stretch>
              <a:fillRect/>
            </a:stretch>
          </p:blipFill>
          <p:spPr>
            <a:xfrm>
              <a:off x="0" y="-391"/>
              <a:ext cx="19425" cy="1487"/>
            </a:xfrm>
            <a:prstGeom prst="rect">
              <a:avLst/>
            </a:prstGeom>
          </p:spPr>
        </p:pic>
        <p:sp>
          <p:nvSpPr>
            <p:cNvPr id="3" name="同侧圆角矩形 2"/>
            <p:cNvSpPr/>
            <p:nvPr/>
          </p:nvSpPr>
          <p:spPr>
            <a:xfrm>
              <a:off x="147" y="183"/>
              <a:ext cx="2400" cy="958"/>
            </a:xfrm>
            <a:prstGeom prst="round2SameRect">
              <a:avLst>
                <a:gd name="adj1" fmla="val 23946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研究主题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4" name="同侧圆角矩形 3"/>
            <p:cNvSpPr/>
            <p:nvPr/>
          </p:nvSpPr>
          <p:spPr>
            <a:xfrm>
              <a:off x="5091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sym typeface="+mn-ea"/>
                </a:rPr>
                <a:t>游戏设计</a:t>
              </a:r>
              <a:endParaRPr lang="zh-CN" altLang="en-US" sz="2400" b="1">
                <a:solidFill>
                  <a:schemeClr val="accent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12" name="同侧圆角矩形 11"/>
            <p:cNvSpPr/>
            <p:nvPr/>
          </p:nvSpPr>
          <p:spPr>
            <a:xfrm>
              <a:off x="7563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研究内容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6" name="同侧圆角矩形 15"/>
            <p:cNvSpPr/>
            <p:nvPr/>
          </p:nvSpPr>
          <p:spPr>
            <a:xfrm>
              <a:off x="2619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研究意义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7" name="同侧圆角矩形 16"/>
            <p:cNvSpPr/>
            <p:nvPr/>
          </p:nvSpPr>
          <p:spPr>
            <a:xfrm>
              <a:off x="10035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平台建设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22" name="同侧圆角矩形 21"/>
            <p:cNvSpPr/>
            <p:nvPr/>
          </p:nvSpPr>
          <p:spPr>
            <a:xfrm>
              <a:off x="12507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预期成果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9999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457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0" name="图片 29" descr="【logo】用于深色底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17269" y="-413"/>
              <a:ext cx="1955" cy="1894"/>
            </a:xfrm>
            <a:prstGeom prst="rect">
              <a:avLst/>
            </a:prstGeom>
          </p:spPr>
        </p:pic>
        <p:grpSp>
          <p:nvGrpSpPr>
            <p:cNvPr id="31" name="组合 30"/>
            <p:cNvGrpSpPr>
              <a:grpSpLocks noChangeAspect="1"/>
            </p:cNvGrpSpPr>
            <p:nvPr/>
          </p:nvGrpSpPr>
          <p:grpSpPr>
            <a:xfrm>
              <a:off x="16501" y="25"/>
              <a:ext cx="1041" cy="1019"/>
              <a:chOff x="16067" y="1829"/>
              <a:chExt cx="1524" cy="1524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6296" y="2076"/>
                <a:ext cx="1062" cy="1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3" name="图片 32" descr="院徽"/>
              <p:cNvPicPr>
                <a:picLocks noChangeAspect="1"/>
              </p:cNvPicPr>
              <p:nvPr/>
            </p:nvPicPr>
            <p:blipFill>
              <a:blip r:embed="rId5"/>
              <a:srcRect l="11694" t="11840" r="11803" b="12022"/>
              <a:stretch>
                <a:fillRect/>
              </a:stretch>
            </p:blipFill>
            <p:spPr>
              <a:xfrm>
                <a:off x="16067" y="1829"/>
                <a:ext cx="1524" cy="1524"/>
              </a:xfrm>
              <a:prstGeom prst="rect">
                <a:avLst/>
              </a:prstGeom>
            </p:spPr>
          </p:pic>
        </p:grpSp>
      </p:grpSp>
      <p:cxnSp>
        <p:nvCxnSpPr>
          <p:cNvPr id="34" name="直接连接符 33"/>
          <p:cNvCxnSpPr/>
          <p:nvPr/>
        </p:nvCxnSpPr>
        <p:spPr>
          <a:xfrm>
            <a:off x="1617345" y="231140"/>
            <a:ext cx="0" cy="43180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图片 2" descr="1e82e26b9343596daa9f8541788837f"/>
          <p:cNvPicPr>
            <a:picLocks noChangeAspect="1"/>
          </p:cNvPicPr>
          <p:nvPr/>
        </p:nvPicPr>
        <p:blipFill>
          <a:blip r:embed="rId6"/>
          <a:srcRect l="22471" t="8441" r="20995" b="15702"/>
          <a:stretch>
            <a:fillRect/>
          </a:stretch>
        </p:blipFill>
        <p:spPr>
          <a:xfrm>
            <a:off x="6151880" y="1535430"/>
            <a:ext cx="5930265" cy="4808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384810" y="891540"/>
            <a:ext cx="1829435" cy="46800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五轮推演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0" y="-262255"/>
            <a:ext cx="12334875" cy="1202690"/>
            <a:chOff x="0" y="-413"/>
            <a:chExt cx="19425" cy="1894"/>
          </a:xfrm>
        </p:grpSpPr>
        <p:pic>
          <p:nvPicPr>
            <p:cNvPr id="2" name="图片 1" descr="11"/>
            <p:cNvPicPr>
              <a:picLocks noChangeAspect="1"/>
            </p:cNvPicPr>
            <p:nvPr/>
          </p:nvPicPr>
          <p:blipFill>
            <a:blip r:embed="rId2"/>
            <a:srcRect t="86757" r="14261" b="1554"/>
            <a:stretch>
              <a:fillRect/>
            </a:stretch>
          </p:blipFill>
          <p:spPr>
            <a:xfrm>
              <a:off x="0" y="-391"/>
              <a:ext cx="19425" cy="1487"/>
            </a:xfrm>
            <a:prstGeom prst="rect">
              <a:avLst/>
            </a:prstGeom>
          </p:spPr>
        </p:pic>
        <p:sp>
          <p:nvSpPr>
            <p:cNvPr id="3" name="同侧圆角矩形 2"/>
            <p:cNvSpPr/>
            <p:nvPr/>
          </p:nvSpPr>
          <p:spPr>
            <a:xfrm>
              <a:off x="147" y="183"/>
              <a:ext cx="2400" cy="958"/>
            </a:xfrm>
            <a:prstGeom prst="round2SameRect">
              <a:avLst>
                <a:gd name="adj1" fmla="val 23946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研究主题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4" name="同侧圆角矩形 3"/>
            <p:cNvSpPr/>
            <p:nvPr/>
          </p:nvSpPr>
          <p:spPr>
            <a:xfrm>
              <a:off x="5091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sym typeface="+mn-ea"/>
                </a:rPr>
                <a:t>游戏设计</a:t>
              </a:r>
              <a:endParaRPr lang="zh-CN" altLang="en-US" sz="2400" b="1">
                <a:solidFill>
                  <a:schemeClr val="accent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12" name="同侧圆角矩形 11"/>
            <p:cNvSpPr/>
            <p:nvPr/>
          </p:nvSpPr>
          <p:spPr>
            <a:xfrm>
              <a:off x="7563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研究内容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6" name="同侧圆角矩形 15"/>
            <p:cNvSpPr/>
            <p:nvPr/>
          </p:nvSpPr>
          <p:spPr>
            <a:xfrm>
              <a:off x="2619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研究意义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7" name="同侧圆角矩形 16"/>
            <p:cNvSpPr/>
            <p:nvPr/>
          </p:nvSpPr>
          <p:spPr>
            <a:xfrm>
              <a:off x="10035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平台建设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22" name="同侧圆角矩形 21"/>
            <p:cNvSpPr/>
            <p:nvPr/>
          </p:nvSpPr>
          <p:spPr>
            <a:xfrm>
              <a:off x="12507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预期成果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9999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457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0" name="图片 29" descr="【logo】用于深色底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269" y="-413"/>
              <a:ext cx="1955" cy="1894"/>
            </a:xfrm>
            <a:prstGeom prst="rect">
              <a:avLst/>
            </a:prstGeom>
          </p:spPr>
        </p:pic>
        <p:grpSp>
          <p:nvGrpSpPr>
            <p:cNvPr id="31" name="组合 30"/>
            <p:cNvGrpSpPr>
              <a:grpSpLocks noChangeAspect="1"/>
            </p:cNvGrpSpPr>
            <p:nvPr/>
          </p:nvGrpSpPr>
          <p:grpSpPr>
            <a:xfrm>
              <a:off x="16501" y="25"/>
              <a:ext cx="1041" cy="1019"/>
              <a:chOff x="16067" y="1829"/>
              <a:chExt cx="1524" cy="1524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6296" y="2076"/>
                <a:ext cx="1062" cy="1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3" name="图片 32" descr="院徽"/>
              <p:cNvPicPr>
                <a:picLocks noChangeAspect="1"/>
              </p:cNvPicPr>
              <p:nvPr/>
            </p:nvPicPr>
            <p:blipFill>
              <a:blip r:embed="rId4"/>
              <a:srcRect l="11694" t="11840" r="11803" b="12022"/>
              <a:stretch>
                <a:fillRect/>
              </a:stretch>
            </p:blipFill>
            <p:spPr>
              <a:xfrm>
                <a:off x="16067" y="1829"/>
                <a:ext cx="1524" cy="1524"/>
              </a:xfrm>
              <a:prstGeom prst="rect">
                <a:avLst/>
              </a:prstGeom>
            </p:spPr>
          </p:pic>
        </p:grpSp>
      </p:grpSp>
      <p:cxnSp>
        <p:nvCxnSpPr>
          <p:cNvPr id="34" name="直接连接符 33"/>
          <p:cNvCxnSpPr/>
          <p:nvPr/>
        </p:nvCxnSpPr>
        <p:spPr>
          <a:xfrm>
            <a:off x="1617345" y="231140"/>
            <a:ext cx="0" cy="43180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图片 2" descr="1e82e26b9343596daa9f8541788837f"/>
          <p:cNvPicPr>
            <a:picLocks noChangeAspect="1"/>
          </p:cNvPicPr>
          <p:nvPr/>
        </p:nvPicPr>
        <p:blipFill>
          <a:blip r:embed="rId5"/>
          <a:srcRect l="22471" t="8441" r="20995" b="15702"/>
          <a:stretch>
            <a:fillRect/>
          </a:stretch>
        </p:blipFill>
        <p:spPr>
          <a:xfrm>
            <a:off x="6199505" y="1358265"/>
            <a:ext cx="5882640" cy="494792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84810" y="1840230"/>
            <a:ext cx="1829435" cy="46800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每轮流程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7715" y="2333625"/>
            <a:ext cx="543179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Aft>
                <a:spcPts val="600"/>
              </a:spcAft>
              <a:buClrTx/>
              <a:buSzTx/>
              <a:buNone/>
            </a:pPr>
            <a:r>
              <a:rPr lang="zh-CN" altLang="en-US" b="1"/>
              <a:t>角色专属信息推送</a:t>
            </a:r>
            <a:r>
              <a:rPr lang="zh-CN" altLang="en-US"/>
              <a:t>（各方看到不同内容）</a:t>
            </a:r>
            <a:endParaRPr lang="zh-CN" altLang="en-US"/>
          </a:p>
          <a:p>
            <a:pPr indent="0" algn="l">
              <a:spcAft>
                <a:spcPts val="600"/>
              </a:spcAft>
              <a:buClrTx/>
              <a:buSzTx/>
              <a:buNone/>
            </a:pPr>
            <a:r>
              <a:rPr lang="zh-CN" altLang="en-US" b="1"/>
              <a:t>独立决策</a:t>
            </a:r>
            <a:r>
              <a:rPr lang="zh-CN" altLang="en-US"/>
              <a:t>（选择题/排序题）</a:t>
            </a:r>
            <a:endParaRPr lang="zh-CN" altLang="en-US"/>
          </a:p>
          <a:p>
            <a:pPr indent="0" algn="l">
              <a:spcAft>
                <a:spcPts val="600"/>
              </a:spcAft>
              <a:buClrTx/>
              <a:buSzTx/>
              <a:buNone/>
            </a:pPr>
            <a:r>
              <a:rPr lang="zh-CN" altLang="en-US" b="1"/>
              <a:t>协商阶段</a:t>
            </a:r>
            <a:r>
              <a:rPr lang="zh-CN" altLang="en-US"/>
              <a:t>（全体频道 + 私信）</a:t>
            </a:r>
            <a:endParaRPr lang="zh-CN" altLang="en-US"/>
          </a:p>
          <a:p>
            <a:pPr indent="0" algn="l">
              <a:spcAft>
                <a:spcPts val="600"/>
              </a:spcAft>
              <a:buClrTx/>
              <a:buSzTx/>
              <a:buNone/>
            </a:pPr>
            <a:r>
              <a:rPr lang="zh-CN" altLang="en-US" b="1"/>
              <a:t>LLM主持人结算</a:t>
            </a:r>
            <a:r>
              <a:rPr lang="zh-CN" altLang="en-US"/>
              <a:t>（核验行动合规、计算实时得分、宣布阶段结果）</a:t>
            </a: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384810" y="4285615"/>
            <a:ext cx="1829435" cy="46800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博弈机制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8610" y="5803265"/>
            <a:ext cx="59772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第五轮结束后结算总分，胜负路径因各轮选择的积累效应存在多种均衡</a:t>
            </a:r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8"/>
            </p:custDataLst>
          </p:nvPr>
        </p:nvSpPr>
        <p:spPr>
          <a:xfrm>
            <a:off x="523240" y="1358265"/>
            <a:ext cx="7002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ym typeface="+mn-ea"/>
              </a:rPr>
              <a:t>污染曝光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信息传递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责任认定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协调谈判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整改落实</a:t>
            </a:r>
            <a:endParaRPr lang="zh-CN" altLang="en-US">
              <a:sym typeface="+mn-ea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695960" y="2337435"/>
            <a:ext cx="7620" cy="1659255"/>
          </a:xfrm>
          <a:prstGeom prst="straightConnector1">
            <a:avLst/>
          </a:prstGeom>
          <a:ln>
            <a:gradFill>
              <a:gsLst>
                <a:gs pos="0">
                  <a:srgbClr val="9BC8F3"/>
                </a:gs>
                <a:gs pos="50000">
                  <a:srgbClr val="0842CD"/>
                </a:gs>
                <a:gs pos="100000">
                  <a:srgbClr val="5DAAED"/>
                </a:gs>
              </a:gsLst>
              <a:lin ang="5400000" scaled="1"/>
            </a:gra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651510" y="2453005"/>
            <a:ext cx="103505" cy="107950"/>
          </a:xfrm>
          <a:prstGeom prst="ellipse">
            <a:avLst/>
          </a:prstGeom>
          <a:solidFill>
            <a:schemeClr val="bg1"/>
          </a:solidFill>
          <a:ln w="28575">
            <a:gradFill>
              <a:gsLst>
                <a:gs pos="0">
                  <a:srgbClr val="9BC8F3"/>
                </a:gs>
                <a:gs pos="50000">
                  <a:srgbClr val="0842CD"/>
                </a:gs>
                <a:gs pos="100000">
                  <a:srgbClr val="5DAAED"/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47700" y="2803525"/>
            <a:ext cx="103505" cy="107950"/>
          </a:xfrm>
          <a:prstGeom prst="ellipse">
            <a:avLst/>
          </a:prstGeom>
          <a:solidFill>
            <a:schemeClr val="bg1"/>
          </a:solidFill>
          <a:ln w="28575">
            <a:gradFill>
              <a:gsLst>
                <a:gs pos="0">
                  <a:srgbClr val="9BC8F3"/>
                </a:gs>
                <a:gs pos="50000">
                  <a:srgbClr val="0842CD"/>
                </a:gs>
                <a:gs pos="100000">
                  <a:srgbClr val="5DAAED"/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47700" y="3165475"/>
            <a:ext cx="103505" cy="107950"/>
          </a:xfrm>
          <a:prstGeom prst="ellipse">
            <a:avLst/>
          </a:prstGeom>
          <a:solidFill>
            <a:schemeClr val="bg1"/>
          </a:solidFill>
          <a:ln w="28575">
            <a:gradFill>
              <a:gsLst>
                <a:gs pos="0">
                  <a:srgbClr val="9BC8F3"/>
                </a:gs>
                <a:gs pos="50000">
                  <a:srgbClr val="0842CD"/>
                </a:gs>
                <a:gs pos="100000">
                  <a:srgbClr val="5DAAED"/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647700" y="3527425"/>
            <a:ext cx="103505" cy="107950"/>
          </a:xfrm>
          <a:prstGeom prst="ellipse">
            <a:avLst/>
          </a:prstGeom>
          <a:solidFill>
            <a:schemeClr val="bg1"/>
          </a:solidFill>
          <a:ln w="28575">
            <a:gradFill>
              <a:gsLst>
                <a:gs pos="0">
                  <a:srgbClr val="9BC8F3"/>
                </a:gs>
                <a:gs pos="50000">
                  <a:srgbClr val="0842CD"/>
                </a:gs>
                <a:gs pos="100000">
                  <a:srgbClr val="5DAAED"/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85800" y="4857750"/>
            <a:ext cx="1097280" cy="307340"/>
          </a:xfrm>
          <a:prstGeom prst="rect">
            <a:avLst/>
          </a:prstGeom>
          <a:solidFill>
            <a:schemeClr val="bg1"/>
          </a:solidFill>
          <a:ln>
            <a:gradFill>
              <a:gsLst>
                <a:gs pos="0">
                  <a:srgbClr val="9BC8F3"/>
                </a:gs>
                <a:gs pos="50000">
                  <a:srgbClr val="0842CD"/>
                </a:gs>
                <a:gs pos="100000">
                  <a:srgbClr val="5DAAED"/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公开频道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14245" y="4857750"/>
            <a:ext cx="1097280" cy="307340"/>
          </a:xfrm>
          <a:prstGeom prst="rect">
            <a:avLst/>
          </a:prstGeom>
          <a:solidFill>
            <a:schemeClr val="bg1"/>
          </a:solidFill>
          <a:ln>
            <a:gradFill>
              <a:gsLst>
                <a:gs pos="0">
                  <a:srgbClr val="9BC8F3"/>
                </a:gs>
                <a:gs pos="50000">
                  <a:srgbClr val="0842CD"/>
                </a:gs>
                <a:gs pos="100000">
                  <a:srgbClr val="5DAAED"/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双边私信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742690" y="4857750"/>
            <a:ext cx="1097280" cy="307340"/>
          </a:xfrm>
          <a:prstGeom prst="rect">
            <a:avLst/>
          </a:prstGeom>
          <a:solidFill>
            <a:schemeClr val="bg1"/>
          </a:solidFill>
          <a:ln>
            <a:gradFill>
              <a:gsLst>
                <a:gs pos="0">
                  <a:srgbClr val="9BC8F3"/>
                </a:gs>
                <a:gs pos="50000">
                  <a:srgbClr val="0842CD"/>
                </a:gs>
                <a:gs pos="100000">
                  <a:srgbClr val="5DAAED"/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联署机制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3" name="图片 22" descr="加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4045" y="4900930"/>
            <a:ext cx="228600" cy="228600"/>
          </a:xfrm>
          <a:prstGeom prst="rect">
            <a:avLst/>
          </a:prstGeom>
        </p:spPr>
      </p:pic>
      <p:pic>
        <p:nvPicPr>
          <p:cNvPr id="25" name="图片 24" descr="加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3125" y="4900930"/>
            <a:ext cx="228600" cy="2286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85800" y="5199380"/>
            <a:ext cx="10966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/>
              <a:t>全员可见</a:t>
            </a:r>
            <a:endParaRPr lang="zh-CN" altLang="en-US" sz="1200"/>
          </a:p>
        </p:txBody>
      </p:sp>
      <p:sp>
        <p:nvSpPr>
          <p:cNvPr id="27" name="文本框 26"/>
          <p:cNvSpPr txBox="1"/>
          <p:nvPr/>
        </p:nvSpPr>
        <p:spPr>
          <a:xfrm>
            <a:off x="3213735" y="5193030"/>
            <a:ext cx="21259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200"/>
              <a:t>跨县联合事项须两方县长</a:t>
            </a:r>
            <a:r>
              <a:rPr lang="zh-CN" altLang="en-US" sz="1200" b="1"/>
              <a:t>联署方可生效</a:t>
            </a:r>
            <a:r>
              <a:rPr lang="zh-CN" altLang="en-US" sz="1200"/>
              <a:t>，否则各自上报并承担不同后果</a:t>
            </a:r>
            <a:endParaRPr lang="zh-CN" alt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384810" y="891540"/>
            <a:ext cx="2235835" cy="467995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决策选项来源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0" y="-262255"/>
            <a:ext cx="12334875" cy="1202690"/>
            <a:chOff x="0" y="-413"/>
            <a:chExt cx="19425" cy="1894"/>
          </a:xfrm>
        </p:grpSpPr>
        <p:pic>
          <p:nvPicPr>
            <p:cNvPr id="2" name="图片 1" descr="11"/>
            <p:cNvPicPr>
              <a:picLocks noChangeAspect="1"/>
            </p:cNvPicPr>
            <p:nvPr/>
          </p:nvPicPr>
          <p:blipFill>
            <a:blip r:embed="rId2"/>
            <a:srcRect t="86757" r="14261" b="1554"/>
            <a:stretch>
              <a:fillRect/>
            </a:stretch>
          </p:blipFill>
          <p:spPr>
            <a:xfrm>
              <a:off x="0" y="-391"/>
              <a:ext cx="19425" cy="1487"/>
            </a:xfrm>
            <a:prstGeom prst="rect">
              <a:avLst/>
            </a:prstGeom>
          </p:spPr>
        </p:pic>
        <p:sp>
          <p:nvSpPr>
            <p:cNvPr id="3" name="同侧圆角矩形 2"/>
            <p:cNvSpPr/>
            <p:nvPr/>
          </p:nvSpPr>
          <p:spPr>
            <a:xfrm>
              <a:off x="147" y="183"/>
              <a:ext cx="2400" cy="958"/>
            </a:xfrm>
            <a:prstGeom prst="round2SameRect">
              <a:avLst>
                <a:gd name="adj1" fmla="val 23946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研究主题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4" name="同侧圆角矩形 3"/>
            <p:cNvSpPr/>
            <p:nvPr/>
          </p:nvSpPr>
          <p:spPr>
            <a:xfrm>
              <a:off x="5091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sym typeface="+mn-ea"/>
                </a:rPr>
                <a:t>游戏设计</a:t>
              </a:r>
              <a:endParaRPr lang="zh-CN" altLang="en-US" sz="2400" b="1">
                <a:solidFill>
                  <a:schemeClr val="accent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12" name="同侧圆角矩形 11"/>
            <p:cNvSpPr/>
            <p:nvPr/>
          </p:nvSpPr>
          <p:spPr>
            <a:xfrm>
              <a:off x="7563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研究内容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6" name="同侧圆角矩形 15"/>
            <p:cNvSpPr/>
            <p:nvPr/>
          </p:nvSpPr>
          <p:spPr>
            <a:xfrm>
              <a:off x="2619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研究意义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7" name="同侧圆角矩形 16"/>
            <p:cNvSpPr/>
            <p:nvPr/>
          </p:nvSpPr>
          <p:spPr>
            <a:xfrm>
              <a:off x="10035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平台建设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22" name="同侧圆角矩形 21"/>
            <p:cNvSpPr/>
            <p:nvPr/>
          </p:nvSpPr>
          <p:spPr>
            <a:xfrm>
              <a:off x="12507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预期成果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9999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2457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0" name="图片 29" descr="【logo】用于深色底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269" y="-413"/>
              <a:ext cx="1955" cy="1894"/>
            </a:xfrm>
            <a:prstGeom prst="rect">
              <a:avLst/>
            </a:prstGeom>
          </p:spPr>
        </p:pic>
        <p:grpSp>
          <p:nvGrpSpPr>
            <p:cNvPr id="31" name="组合 30"/>
            <p:cNvGrpSpPr>
              <a:grpSpLocks noChangeAspect="1"/>
            </p:cNvGrpSpPr>
            <p:nvPr/>
          </p:nvGrpSpPr>
          <p:grpSpPr>
            <a:xfrm>
              <a:off x="16501" y="25"/>
              <a:ext cx="1041" cy="1019"/>
              <a:chOff x="16067" y="1829"/>
              <a:chExt cx="1524" cy="1524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6296" y="2076"/>
                <a:ext cx="1062" cy="1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3" name="图片 32" descr="院徽"/>
              <p:cNvPicPr>
                <a:picLocks noChangeAspect="1"/>
              </p:cNvPicPr>
              <p:nvPr/>
            </p:nvPicPr>
            <p:blipFill>
              <a:blip r:embed="rId4"/>
              <a:srcRect l="11694" t="11840" r="11803" b="12022"/>
              <a:stretch>
                <a:fillRect/>
              </a:stretch>
            </p:blipFill>
            <p:spPr>
              <a:xfrm>
                <a:off x="16067" y="1829"/>
                <a:ext cx="1524" cy="1524"/>
              </a:xfrm>
              <a:prstGeom prst="rect">
                <a:avLst/>
              </a:prstGeom>
            </p:spPr>
          </p:pic>
        </p:grpSp>
      </p:grpSp>
      <p:cxnSp>
        <p:nvCxnSpPr>
          <p:cNvPr id="34" name="直接连接符 33"/>
          <p:cNvCxnSpPr/>
          <p:nvPr/>
        </p:nvCxnSpPr>
        <p:spPr>
          <a:xfrm>
            <a:off x="1617345" y="231140"/>
            <a:ext cx="0" cy="43180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84200" y="1406525"/>
            <a:ext cx="5359400" cy="1678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由</a:t>
            </a:r>
            <a:r>
              <a:rPr lang="zh-CN" altLang="en-US" sz="2000" b="1">
                <a:sym typeface="+mn-ea"/>
              </a:rPr>
              <a:t>百晓智能RAG管道</a:t>
            </a:r>
            <a:r>
              <a:rPr lang="zh-CN" altLang="en-US" sz="2000">
                <a:sym typeface="+mn-ea"/>
              </a:rPr>
              <a:t>从学术文献中动态提炼，每个选项附理论依据与文献来源；</a:t>
            </a:r>
            <a:endParaRPr lang="zh-CN" altLang="en-US" sz="2000">
              <a:sym typeface="+mn-ea"/>
            </a:endParaRPr>
          </a:p>
          <a:p>
            <a:pPr marL="342900" indent="-342900" algn="l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选择本身即为研究数据</a:t>
            </a:r>
            <a:endParaRPr lang="zh-CN" altLang="en-US" sz="2000">
              <a:sym typeface="+mn-ea"/>
            </a:endParaRPr>
          </a:p>
          <a:p>
            <a:pPr marL="342900" indent="-342900" algn="l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例如县长对上级报告策略的三个选项分别对应Hood（2011）避责理论的三种经典类型</a:t>
            </a:r>
            <a:r>
              <a:rPr lang="en-US" altLang="zh-CN" sz="2000">
                <a:sym typeface="+mn-ea"/>
              </a:rPr>
              <a:t>:</a:t>
            </a:r>
            <a:endParaRPr lang="zh-CN" altLang="en-US" sz="2000">
              <a:sym typeface="+mn-ea"/>
            </a:endParaRPr>
          </a:p>
          <a:p>
            <a:pPr indent="0" algn="l">
              <a:lnSpc>
                <a:spcPct val="11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endParaRPr lang="zh-CN" altLang="en-US" sz="2000"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5"/>
            </p:custDataLst>
          </p:nvPr>
        </p:nvGraphicFramePr>
        <p:xfrm>
          <a:off x="499110" y="3502025"/>
          <a:ext cx="6389370" cy="2836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4685"/>
                <a:gridCol w="3194685"/>
              </a:tblGrid>
              <a:tr h="408940"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/>
                        <a:t>选项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en-US" altLang="zh-CN"/>
                        <a:t>Hood</a:t>
                      </a:r>
                      <a:r>
                        <a:rPr lang="zh-CN" altLang="en-US"/>
                        <a:t>避责类型</a:t>
                      </a:r>
                      <a:endParaRPr lang="zh-CN" altLang="en-US"/>
                    </a:p>
                  </a:txBody>
                  <a:tcPr/>
                </a:tc>
              </a:tr>
              <a:tr h="821690"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/>
                        <a:t>以水质波动、情况可控为口径上报，隐去超标具体数值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/>
                        <a:t>表象策略（通过信息包装管理上级对严重程度的认知）</a:t>
                      </a:r>
                      <a:endParaRPr lang="zh-CN" altLang="en-US"/>
                    </a:p>
                  </a:txBody>
                  <a:tcPr/>
                </a:tc>
              </a:tr>
              <a:tr h="821690"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/>
                        <a:t>如实上报同时将问题定性为跨域污染，请求省厅介入协调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/>
                        <a:t>代理策略（将决策责任转移至上级，自身退为执行者）</a:t>
                      </a:r>
                      <a:endParaRPr lang="zh-CN" altLang="en-US"/>
                    </a:p>
                  </a:txBody>
                  <a:tcPr/>
                </a:tc>
              </a:tr>
              <a:tr h="784225"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/>
                        <a:t>以数据核查程序尚未完成为由申请延期上报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/>
                        <a:t>政策策略（以程序合规为名规避当前问责）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7" name="图片 2" descr="1e82e26b9343596daa9f8541788837f"/>
          <p:cNvPicPr>
            <a:picLocks noChangeAspect="1"/>
          </p:cNvPicPr>
          <p:nvPr/>
        </p:nvPicPr>
        <p:blipFill>
          <a:blip r:embed="rId6"/>
          <a:srcRect l="22471" t="8441" r="20995" b="15702"/>
          <a:stretch>
            <a:fillRect/>
          </a:stretch>
        </p:blipFill>
        <p:spPr>
          <a:xfrm>
            <a:off x="6888480" y="1597660"/>
            <a:ext cx="519430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" name="组合 29"/>
          <p:cNvGrpSpPr/>
          <p:nvPr/>
        </p:nvGrpSpPr>
        <p:grpSpPr>
          <a:xfrm>
            <a:off x="0" y="-262255"/>
            <a:ext cx="12334240" cy="1202690"/>
            <a:chOff x="0" y="-413"/>
            <a:chExt cx="19424" cy="1894"/>
          </a:xfrm>
        </p:grpSpPr>
        <p:grpSp>
          <p:nvGrpSpPr>
            <p:cNvPr id="38" name="组合 37"/>
            <p:cNvGrpSpPr/>
            <p:nvPr/>
          </p:nvGrpSpPr>
          <p:grpSpPr>
            <a:xfrm>
              <a:off x="0" y="-413"/>
              <a:ext cx="19425" cy="1894"/>
              <a:chOff x="0" y="-413"/>
              <a:chExt cx="19425" cy="1894"/>
            </a:xfrm>
          </p:grpSpPr>
          <p:pic>
            <p:nvPicPr>
              <p:cNvPr id="11" name="图片 10" descr="11"/>
              <p:cNvPicPr>
                <a:picLocks noChangeAspect="1"/>
              </p:cNvPicPr>
              <p:nvPr/>
            </p:nvPicPr>
            <p:blipFill>
              <a:blip r:embed="rId1"/>
              <a:srcRect t="86757" r="14261" b="1554"/>
              <a:stretch>
                <a:fillRect/>
              </a:stretch>
            </p:blipFill>
            <p:spPr>
              <a:xfrm>
                <a:off x="0" y="-391"/>
                <a:ext cx="19425" cy="1487"/>
              </a:xfrm>
              <a:prstGeom prst="rect">
                <a:avLst/>
              </a:prstGeom>
            </p:spPr>
          </p:pic>
          <p:sp>
            <p:nvSpPr>
              <p:cNvPr id="4" name="同侧圆角矩形 3"/>
              <p:cNvSpPr/>
              <p:nvPr/>
            </p:nvSpPr>
            <p:spPr>
              <a:xfrm>
                <a:off x="147" y="183"/>
                <a:ext cx="2400" cy="958"/>
              </a:xfrm>
              <a:prstGeom prst="round2SameRect">
                <a:avLst>
                  <a:gd name="adj1" fmla="val 23946"/>
                  <a:gd name="adj2" fmla="val 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2400" b="1">
                    <a:solidFill>
                      <a:schemeClr val="bg1"/>
                    </a:solidFill>
                    <a:sym typeface="+mn-ea"/>
                  </a:rPr>
                  <a:t>研究主题</a:t>
                </a:r>
                <a:endParaRPr lang="zh-CN" altLang="en-US" sz="2400" b="1">
                  <a:solidFill>
                    <a:schemeClr val="bg1"/>
                  </a:solidFill>
                  <a:sym typeface="+mn-ea"/>
                </a:endParaRPr>
              </a:p>
            </p:txBody>
          </p:sp>
          <p:sp>
            <p:nvSpPr>
              <p:cNvPr id="6" name="同侧圆角矩形 5"/>
              <p:cNvSpPr/>
              <p:nvPr/>
            </p:nvSpPr>
            <p:spPr>
              <a:xfrm>
                <a:off x="5091" y="183"/>
                <a:ext cx="2400" cy="958"/>
              </a:xfrm>
              <a:prstGeom prst="round2SameRect">
                <a:avLst>
                  <a:gd name="adj1" fmla="val 22507"/>
                  <a:gd name="adj2" fmla="val 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2400" b="1">
                    <a:solidFill>
                      <a:schemeClr val="bg1"/>
                    </a:solidFill>
                    <a:sym typeface="+mn-ea"/>
                  </a:rPr>
                  <a:t>游戏设计</a:t>
                </a:r>
                <a:endParaRPr lang="zh-CN" altLang="en-US" sz="2400" b="1">
                  <a:solidFill>
                    <a:schemeClr val="bg1"/>
                  </a:solidFill>
                  <a:sym typeface="+mn-ea"/>
                </a:endParaRPr>
              </a:p>
            </p:txBody>
          </p:sp>
          <p:sp>
            <p:nvSpPr>
              <p:cNvPr id="8" name="同侧圆角矩形 7"/>
              <p:cNvSpPr/>
              <p:nvPr/>
            </p:nvSpPr>
            <p:spPr>
              <a:xfrm>
                <a:off x="7563" y="183"/>
                <a:ext cx="2400" cy="958"/>
              </a:xfrm>
              <a:prstGeom prst="round2SameRect">
                <a:avLst>
                  <a:gd name="adj1" fmla="val 25282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2400" b="1">
                    <a:solidFill>
                      <a:schemeClr val="accent1">
                        <a:lumMod val="50000"/>
                      </a:schemeClr>
                    </a:solidFill>
                    <a:sym typeface="+mn-ea"/>
                  </a:rPr>
                  <a:t>研究内容</a:t>
                </a:r>
                <a:endParaRPr lang="zh-CN" altLang="en-US" sz="2400" b="1">
                  <a:solidFill>
                    <a:schemeClr val="accent1">
                      <a:lumMod val="50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9" name="同侧圆角矩形 8"/>
              <p:cNvSpPr/>
              <p:nvPr/>
            </p:nvSpPr>
            <p:spPr>
              <a:xfrm>
                <a:off x="2619" y="183"/>
                <a:ext cx="2400" cy="958"/>
              </a:xfrm>
              <a:prstGeom prst="round2SameRect">
                <a:avLst>
                  <a:gd name="adj1" fmla="val 22507"/>
                  <a:gd name="adj2" fmla="val 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2400" b="1">
                    <a:solidFill>
                      <a:schemeClr val="bg1"/>
                    </a:solidFill>
                    <a:sym typeface="+mn-ea"/>
                  </a:rPr>
                  <a:t>研究意义</a:t>
                </a:r>
                <a:endParaRPr lang="zh-CN" altLang="en-US" sz="2400" b="1">
                  <a:solidFill>
                    <a:schemeClr val="bg1"/>
                  </a:solidFill>
                  <a:sym typeface="+mn-ea"/>
                </a:endParaRPr>
              </a:p>
            </p:txBody>
          </p:sp>
          <p:sp>
            <p:nvSpPr>
              <p:cNvPr id="13" name="同侧圆角矩形 12"/>
              <p:cNvSpPr/>
              <p:nvPr/>
            </p:nvSpPr>
            <p:spPr>
              <a:xfrm>
                <a:off x="10035" y="183"/>
                <a:ext cx="2400" cy="958"/>
              </a:xfrm>
              <a:prstGeom prst="round2SameRect">
                <a:avLst>
                  <a:gd name="adj1" fmla="val 25282"/>
                  <a:gd name="adj2" fmla="val 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2400" b="1">
                    <a:solidFill>
                      <a:schemeClr val="bg1"/>
                    </a:solidFill>
                    <a:sym typeface="+mn-ea"/>
                  </a:rPr>
                  <a:t>平台建设</a:t>
                </a:r>
                <a:endParaRPr lang="zh-CN" altLang="en-US" sz="2400" b="1">
                  <a:solidFill>
                    <a:schemeClr val="bg1"/>
                  </a:solidFill>
                  <a:sym typeface="+mn-ea"/>
                </a:endParaRPr>
              </a:p>
            </p:txBody>
          </p:sp>
          <p:sp>
            <p:nvSpPr>
              <p:cNvPr id="14" name="同侧圆角矩形 13"/>
              <p:cNvSpPr/>
              <p:nvPr/>
            </p:nvSpPr>
            <p:spPr>
              <a:xfrm>
                <a:off x="12507" y="183"/>
                <a:ext cx="2400" cy="958"/>
              </a:xfrm>
              <a:prstGeom prst="round2SameRect">
                <a:avLst>
                  <a:gd name="adj1" fmla="val 25282"/>
                  <a:gd name="adj2" fmla="val 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2400" b="1">
                    <a:solidFill>
                      <a:schemeClr val="bg1"/>
                    </a:solidFill>
                    <a:sym typeface="+mn-ea"/>
                  </a:rPr>
                  <a:t>预期成果</a:t>
                </a:r>
                <a:endParaRPr lang="zh-CN" altLang="en-US" sz="2400" b="1">
                  <a:solidFill>
                    <a:schemeClr val="bg1"/>
                  </a:solidFill>
                  <a:sym typeface="+mn-ea"/>
                </a:endParaRPr>
              </a:p>
            </p:txBody>
          </p:sp>
          <p:cxnSp>
            <p:nvCxnSpPr>
              <p:cNvPr id="7" name="直接连接符 6"/>
              <p:cNvCxnSpPr/>
              <p:nvPr/>
            </p:nvCxnSpPr>
            <p:spPr>
              <a:xfrm>
                <a:off x="5055" y="350"/>
                <a:ext cx="0" cy="680"/>
              </a:xfrm>
              <a:prstGeom prst="line">
                <a:avLst/>
              </a:prstGeom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12457" y="350"/>
                <a:ext cx="0" cy="680"/>
              </a:xfrm>
              <a:prstGeom prst="line">
                <a:avLst/>
              </a:prstGeom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8" name="图片 17" descr="【logo】用于深色底"/>
              <p:cNvPicPr preferRelativeResize="0"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269" y="-413"/>
                <a:ext cx="1955" cy="1894"/>
              </a:xfrm>
              <a:prstGeom prst="rect">
                <a:avLst/>
              </a:prstGeom>
            </p:spPr>
          </p:pic>
          <p:grpSp>
            <p:nvGrpSpPr>
              <p:cNvPr id="20" name="组合 19"/>
              <p:cNvGrpSpPr>
                <a:grpSpLocks noChangeAspect="1"/>
              </p:cNvGrpSpPr>
              <p:nvPr/>
            </p:nvGrpSpPr>
            <p:grpSpPr>
              <a:xfrm>
                <a:off x="16501" y="25"/>
                <a:ext cx="1041" cy="1019"/>
                <a:chOff x="16067" y="1829"/>
                <a:chExt cx="1524" cy="1524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16296" y="2076"/>
                  <a:ext cx="1062" cy="10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pic>
              <p:nvPicPr>
                <p:cNvPr id="112" name="图片 111" descr="院徽"/>
                <p:cNvPicPr>
                  <a:picLocks noChangeAspect="1"/>
                </p:cNvPicPr>
                <p:nvPr/>
              </p:nvPicPr>
              <p:blipFill>
                <a:blip r:embed="rId3"/>
                <a:srcRect l="11694" t="11840" r="11803" b="12022"/>
                <a:stretch>
                  <a:fillRect/>
                </a:stretch>
              </p:blipFill>
              <p:spPr>
                <a:xfrm>
                  <a:off x="16067" y="1829"/>
                  <a:ext cx="1524" cy="152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5" name="直接连接符 14"/>
            <p:cNvCxnSpPr/>
            <p:nvPr/>
          </p:nvCxnSpPr>
          <p:spPr>
            <a:xfrm>
              <a:off x="2547" y="364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2466975" y="5586730"/>
            <a:ext cx="8894445" cy="395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zh-CN" altLang="en-US"/>
              <a:t>同批参与者完成情景实验，同步以相同场景参数运行</a:t>
            </a:r>
            <a:r>
              <a:rPr lang="en-US" altLang="zh-CN"/>
              <a:t>ABM</a:t>
            </a:r>
            <a:r>
              <a:rPr lang="zh-CN" altLang="en-US"/>
              <a:t>，系统比较三类方法的差异</a:t>
            </a:r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36295" y="5379085"/>
            <a:ext cx="10525125" cy="843915"/>
          </a:xfrm>
          <a:prstGeom prst="rect">
            <a:avLst/>
          </a:prstGeom>
          <a:noFill/>
          <a:ln w="19050">
            <a:gradFill>
              <a:gsLst>
                <a:gs pos="0">
                  <a:srgbClr val="0640CD"/>
                </a:gs>
                <a:gs pos="100000">
                  <a:srgbClr val="56A1EA"/>
                </a:gs>
              </a:gsLst>
              <a:lin ang="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梯形 26"/>
          <p:cNvSpPr/>
          <p:nvPr/>
        </p:nvSpPr>
        <p:spPr>
          <a:xfrm>
            <a:off x="836295" y="4231005"/>
            <a:ext cx="10525760" cy="1148080"/>
          </a:xfrm>
          <a:prstGeom prst="trapezoid">
            <a:avLst>
              <a:gd name="adj" fmla="val 109875"/>
            </a:avLst>
          </a:prstGeom>
          <a:gradFill>
            <a:gsLst>
              <a:gs pos="0">
                <a:srgbClr val="ABD1F5">
                  <a:alpha val="0"/>
                </a:srgbClr>
              </a:gs>
              <a:gs pos="33000">
                <a:srgbClr val="ABD1F5"/>
              </a:gs>
              <a:gs pos="100000">
                <a:srgbClr val="1F5ED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4658360" y="1986915"/>
            <a:ext cx="2872105" cy="3014345"/>
          </a:xfrm>
          <a:prstGeom prst="rect">
            <a:avLst/>
          </a:prstGeom>
          <a:solidFill>
            <a:srgbClr val="CFE5FA"/>
          </a:solidFill>
          <a:ln>
            <a:gradFill>
              <a:gsLst>
                <a:gs pos="0">
                  <a:srgbClr val="0640CD"/>
                </a:gs>
                <a:gs pos="100000">
                  <a:srgbClr val="56A1EA"/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680845" y="1986915"/>
            <a:ext cx="2872740" cy="3014345"/>
          </a:xfrm>
          <a:prstGeom prst="rect">
            <a:avLst/>
          </a:prstGeom>
          <a:solidFill>
            <a:srgbClr val="CFE5FA"/>
          </a:solidFill>
          <a:ln>
            <a:gradFill>
              <a:gsLst>
                <a:gs pos="0">
                  <a:srgbClr val="0640CD"/>
                </a:gs>
                <a:gs pos="100000">
                  <a:srgbClr val="56A1EA"/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7635240" y="1986915"/>
            <a:ext cx="2872105" cy="3014345"/>
          </a:xfrm>
          <a:prstGeom prst="rect">
            <a:avLst/>
          </a:prstGeom>
          <a:solidFill>
            <a:srgbClr val="CFE5FA"/>
          </a:solidFill>
          <a:ln>
            <a:gradFill>
              <a:gsLst>
                <a:gs pos="0">
                  <a:srgbClr val="0640CD"/>
                </a:gs>
                <a:gs pos="100000">
                  <a:srgbClr val="56A1EA"/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339975" y="1745615"/>
            <a:ext cx="1554480" cy="40132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b="1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实验一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663065" y="2279015"/>
            <a:ext cx="2890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ym typeface="+mn-ea"/>
              </a:rPr>
              <a:t>问责压力 → 信息披露行为</a:t>
            </a:r>
            <a:endParaRPr lang="zh-CN" altLang="en-US" b="1"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722755" y="2779395"/>
            <a:ext cx="2779395" cy="2153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just" fontAlgn="auto">
              <a:lnSpc>
                <a:spcPct val="110000"/>
              </a:lnSpc>
            </a:pPr>
            <a:r>
              <a:rPr lang="zh-CN" altLang="en-US"/>
              <a:t>以督察专员触发频率为处理变量（高问责：每轮督察；低问责：仅第</a:t>
            </a:r>
            <a:r>
              <a:rPr lang="en-US" altLang="zh-CN"/>
              <a:t>3</a:t>
            </a:r>
            <a:r>
              <a:rPr lang="zh-CN" altLang="en-US"/>
              <a:t>轮触发），测量县长主动上报时机、上报内容与私有信息的一致性、是否存在选择性隐瞒</a:t>
            </a:r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5"/>
            </p:custDataLst>
          </p:nvPr>
        </p:nvSpPr>
        <p:spPr>
          <a:xfrm>
            <a:off x="5316855" y="1745615"/>
            <a:ext cx="1554480" cy="40132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b="1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实验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二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662805" y="2273935"/>
            <a:ext cx="28733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考核权重</a:t>
            </a:r>
            <a:r>
              <a:rPr lang="zh-CN" altLang="en-US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→</a:t>
            </a:r>
            <a:r>
              <a:rPr lang="zh-CN" altLang="en-US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跨域合作行为</a:t>
            </a:r>
            <a:endParaRPr lang="zh-CN" altLang="en-US" b="1"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662805" y="2782570"/>
            <a:ext cx="2856865" cy="1938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just">
              <a:lnSpc>
                <a:spcPct val="110000"/>
              </a:lnSpc>
              <a:buClrTx/>
              <a:buSzTx/>
              <a:buFontTx/>
            </a:pPr>
            <a:r>
              <a:rPr lang="zh-CN" altLang="en-US"/>
              <a:t>通过参数接口调整绩效公式中α（环境绩效）与</a:t>
            </a:r>
            <a:r>
              <a:rPr lang="zh-CN" altLang="en-US"/>
              <a:t>β（经济绩效）的比值，测量联署发起次数、协调谈判中的资金承诺与合作达成轮次</a:t>
            </a:r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6"/>
            </p:custDataLst>
          </p:nvPr>
        </p:nvSpPr>
        <p:spPr>
          <a:xfrm>
            <a:off x="8293735" y="1745615"/>
            <a:ext cx="1554480" cy="40132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b="1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实验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三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497445" y="2280285"/>
            <a:ext cx="31578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属地利益</a:t>
            </a:r>
            <a:r>
              <a:rPr lang="zh-CN" altLang="en-US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→</a:t>
            </a:r>
            <a:r>
              <a:rPr lang="zh-CN" altLang="en-US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差异化执法行为</a:t>
            </a:r>
            <a:endParaRPr lang="zh-CN" altLang="en-US" b="1"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635240" y="2781935"/>
            <a:ext cx="2884170" cy="147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457200" algn="just">
              <a:lnSpc>
                <a:spcPct val="11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调整本地企业被罚对县长得分的影响系数，测量环保局长对本地</a:t>
            </a:r>
            <a:r>
              <a:rPr lang="zh-CN" altLang="en-US">
                <a:sym typeface="+mn-ea"/>
              </a:rPr>
              <a:t> vs. </a:t>
            </a:r>
            <a:r>
              <a:rPr lang="zh-CN" altLang="en-US">
                <a:sym typeface="+mn-ea"/>
              </a:rPr>
              <a:t>外县企业的处罚时效差与整改要求差异</a:t>
            </a:r>
            <a:endParaRPr lang="zh-CN" altLang="en-US">
              <a:sym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912495" y="5599430"/>
            <a:ext cx="1554480" cy="40132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b="1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效度比较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339975" y="913130"/>
            <a:ext cx="8894445" cy="7004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zh-CN" altLang="en-US"/>
              <a:t>以行动者为中心的制度主义</a:t>
            </a:r>
            <a:r>
              <a:rPr lang="en-US" altLang="zh-CN"/>
              <a:t>——</a:t>
            </a:r>
            <a:r>
              <a:rPr lang="zh-CN" altLang="en-US"/>
              <a:t>内外部制度环境塑造官员的偏好结构与能力边界，制度参数调整将改变策略选择与博弈均衡</a:t>
            </a:r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8"/>
            </p:custDataLst>
          </p:nvPr>
        </p:nvSpPr>
        <p:spPr>
          <a:xfrm>
            <a:off x="785495" y="1079500"/>
            <a:ext cx="1554480" cy="40132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b="1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理论基础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5" descr="5c889b50bfbfb465a5a0fb166b4aeb5"/>
          <p:cNvPicPr>
            <a:picLocks noChangeAspect="1"/>
          </p:cNvPicPr>
          <p:nvPr/>
        </p:nvPicPr>
        <p:blipFill>
          <a:blip r:embed="rId1"/>
          <a:srcRect l="22613" t="2414" r="22279" b="2297"/>
          <a:stretch>
            <a:fillRect/>
          </a:stretch>
        </p:blipFill>
        <p:spPr>
          <a:xfrm>
            <a:off x="6372225" y="940435"/>
            <a:ext cx="5432425" cy="528447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0" y="-262255"/>
            <a:ext cx="12334875" cy="1202690"/>
            <a:chOff x="0" y="-413"/>
            <a:chExt cx="19425" cy="1894"/>
          </a:xfrm>
        </p:grpSpPr>
        <p:pic>
          <p:nvPicPr>
            <p:cNvPr id="11" name="图片 10" descr="11"/>
            <p:cNvPicPr>
              <a:picLocks noChangeAspect="1"/>
            </p:cNvPicPr>
            <p:nvPr/>
          </p:nvPicPr>
          <p:blipFill>
            <a:blip r:embed="rId2"/>
            <a:srcRect t="86757" r="14261" b="1554"/>
            <a:stretch>
              <a:fillRect/>
            </a:stretch>
          </p:blipFill>
          <p:spPr>
            <a:xfrm>
              <a:off x="0" y="-391"/>
              <a:ext cx="19425" cy="1487"/>
            </a:xfrm>
            <a:prstGeom prst="rect">
              <a:avLst/>
            </a:prstGeom>
          </p:spPr>
        </p:pic>
        <p:sp>
          <p:nvSpPr>
            <p:cNvPr id="6" name="同侧圆角矩形 5"/>
            <p:cNvSpPr/>
            <p:nvPr/>
          </p:nvSpPr>
          <p:spPr>
            <a:xfrm>
              <a:off x="147" y="183"/>
              <a:ext cx="2400" cy="958"/>
            </a:xfrm>
            <a:prstGeom prst="round2SameRect">
              <a:avLst>
                <a:gd name="adj1" fmla="val 23946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研究主题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" name="同侧圆角矩形 6"/>
            <p:cNvSpPr/>
            <p:nvPr/>
          </p:nvSpPr>
          <p:spPr>
            <a:xfrm>
              <a:off x="5091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游戏设计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>
              <a:off x="7563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研究内容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同侧圆角矩形 8"/>
            <p:cNvSpPr/>
            <p:nvPr/>
          </p:nvSpPr>
          <p:spPr>
            <a:xfrm>
              <a:off x="2619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研究意义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3" name="同侧圆角矩形 12"/>
            <p:cNvSpPr/>
            <p:nvPr/>
          </p:nvSpPr>
          <p:spPr>
            <a:xfrm>
              <a:off x="10035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sym typeface="+mn-ea"/>
                </a:rPr>
                <a:t>平台建设</a:t>
              </a:r>
              <a:endParaRPr lang="zh-CN" altLang="en-US" sz="2400" b="1">
                <a:solidFill>
                  <a:schemeClr val="accent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14" name="同侧圆角矩形 13"/>
            <p:cNvSpPr/>
            <p:nvPr/>
          </p:nvSpPr>
          <p:spPr>
            <a:xfrm>
              <a:off x="12507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预期成果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5069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552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8" name="图片 17" descr="【logo】用于深色底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269" y="-413"/>
              <a:ext cx="1955" cy="1894"/>
            </a:xfrm>
            <a:prstGeom prst="rect">
              <a:avLst/>
            </a:prstGeom>
          </p:spPr>
        </p:pic>
        <p:grpSp>
          <p:nvGrpSpPr>
            <p:cNvPr id="20" name="组合 19"/>
            <p:cNvGrpSpPr>
              <a:grpSpLocks noChangeAspect="1"/>
            </p:cNvGrpSpPr>
            <p:nvPr/>
          </p:nvGrpSpPr>
          <p:grpSpPr>
            <a:xfrm rot="0">
              <a:off x="16501" y="25"/>
              <a:ext cx="1041" cy="1019"/>
              <a:chOff x="16067" y="1829"/>
              <a:chExt cx="1524" cy="152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6296" y="2076"/>
                <a:ext cx="1062" cy="1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12" name="图片 111" descr="院徽"/>
              <p:cNvPicPr>
                <a:picLocks noChangeAspect="1"/>
              </p:cNvPicPr>
              <p:nvPr/>
            </p:nvPicPr>
            <p:blipFill>
              <a:blip r:embed="rId4"/>
              <a:srcRect l="11694" t="11840" r="11803" b="12022"/>
              <a:stretch>
                <a:fillRect/>
              </a:stretch>
            </p:blipFill>
            <p:spPr>
              <a:xfrm>
                <a:off x="16067" y="1829"/>
                <a:ext cx="1524" cy="1524"/>
              </a:xfrm>
              <a:prstGeom prst="rect">
                <a:avLst/>
              </a:prstGeom>
            </p:spPr>
          </p:pic>
        </p:grpSp>
        <p:cxnSp>
          <p:nvCxnSpPr>
            <p:cNvPr id="15" name="直接连接符 14"/>
            <p:cNvCxnSpPr/>
            <p:nvPr/>
          </p:nvCxnSpPr>
          <p:spPr>
            <a:xfrm>
              <a:off x="2547" y="364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250190" y="940435"/>
            <a:ext cx="1829435" cy="46800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制度底座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50190" y="2255520"/>
            <a:ext cx="2493010" cy="467995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知识库与智能</a:t>
            </a:r>
            <a:r>
              <a:rPr lang="zh-CN" altLang="en-US" sz="2000" b="1">
                <a:solidFill>
                  <a:schemeClr val="bg1"/>
                </a:solidFill>
                <a:sym typeface="+mn-ea"/>
              </a:rPr>
              <a:t>体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278130" y="3627120"/>
            <a:ext cx="1829435" cy="46800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博弈引擎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278130" y="4993005"/>
            <a:ext cx="1829435" cy="468000"/>
          </a:xfrm>
          <a:prstGeom prst="rect">
            <a:avLst/>
          </a:prstGeom>
          <a:gradFill>
            <a:gsLst>
              <a:gs pos="0">
                <a:srgbClr val="DAEDFC">
                  <a:alpha val="0"/>
                </a:srgbClr>
              </a:gs>
              <a:gs pos="50000">
                <a:srgbClr val="053ECC"/>
              </a:gs>
              <a:gs pos="15000">
                <a:srgbClr val="2586E4">
                  <a:alpha val="75000"/>
                </a:srgbClr>
              </a:gs>
              <a:gs pos="85000">
                <a:srgbClr val="298FE7">
                  <a:alpha val="75000"/>
                </a:srgbClr>
              </a:gs>
              <a:gs pos="100000">
                <a:srgbClr val="E2F1FD">
                  <a:alpha val="0"/>
                </a:srgbClr>
              </a:gs>
            </a:gsLst>
            <a:lin ang="0" scaled="0"/>
          </a:gradFill>
        </p:spPr>
        <p:txBody>
          <a:bodyPr wrap="square" rtlCol="0" anchor="t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sym typeface="+mn-ea"/>
              </a:rPr>
              <a:t>数据采集</a:t>
            </a:r>
            <a:endParaRPr lang="zh-CN" altLang="en-US" sz="2000" b="1">
              <a:solidFill>
                <a:schemeClr val="bg1"/>
              </a:solidFill>
              <a:sym typeface="+mn-ea"/>
            </a:endParaRPr>
          </a:p>
          <a:p>
            <a:pPr lvl="0" algn="ctr">
              <a:lnSpc>
                <a:spcPct val="110000"/>
              </a:lnSpc>
              <a:buClrTx/>
              <a:buSzTx/>
              <a:buFontTx/>
            </a:pPr>
            <a:endParaRPr lang="zh-CN" altLang="en-US" sz="20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617220" y="1397000"/>
            <a:ext cx="547751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457200" algn="l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000">
                <a:sym typeface="+mn-ea"/>
              </a:rPr>
              <a:t>法律法规、党政体制、央地关系、条块关系、政策过程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>
                <a:sym typeface="+mn-ea"/>
              </a:rPr>
              <a:t>政社关系</a:t>
            </a:r>
            <a:endParaRPr lang="zh-CN" altLang="en-US" sz="2000"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617220" y="2724785"/>
            <a:ext cx="54502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457200" algn="l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对接百晓智能，</a:t>
            </a:r>
            <a:r>
              <a:rPr lang="zh-CN" altLang="en-US" sz="2000">
                <a:sym typeface="+mn-ea"/>
              </a:rPr>
              <a:t>RAG</a:t>
            </a:r>
            <a:r>
              <a:rPr lang="zh-CN" altLang="en-US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管道抽取政策文件与学术文献</a:t>
            </a:r>
            <a:endParaRPr lang="zh-CN" altLang="en-US" sz="2000"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635635" y="4095115"/>
            <a:ext cx="54781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457200" algn="l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有限状态机管理推演流转，</a:t>
            </a:r>
            <a:r>
              <a:rPr lang="zh-CN" altLang="en-US" sz="2000">
                <a:sym typeface="+mn-ea"/>
              </a:rPr>
              <a:t>WebSocket</a:t>
            </a:r>
            <a:r>
              <a:rPr lang="zh-CN" altLang="en-US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支撑多人实时交互</a:t>
            </a:r>
            <a:endParaRPr lang="zh-CN" altLang="en-US" sz="2000"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645160" y="5445760"/>
            <a:ext cx="54502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457200" algn="l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记录决策序列、通信网络与行为日志，推送后测问卷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2605" y="940435"/>
            <a:ext cx="10515600" cy="4351338"/>
          </a:xfrm>
        </p:spPr>
        <p:txBody>
          <a:bodyPr/>
          <a:p>
            <a:pPr marL="342900" indent="-342900" algn="l">
              <a:lnSpc>
                <a:spcPct val="8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2000"/>
              <a:t>开发一个面向国家治理场景的严肃游戏平台，</a:t>
            </a:r>
            <a:r>
              <a:rPr lang="zh-CN" altLang="en-US" sz="2000">
                <a:sym typeface="+mn-ea"/>
              </a:rPr>
              <a:t>建立一个社会科学严肃游戏研究社群</a:t>
            </a:r>
            <a:endParaRPr lang="zh-CN" altLang="en-US" sz="2000"/>
          </a:p>
          <a:p>
            <a:pPr marL="342900" indent="-342900" algn="l">
              <a:lnSpc>
                <a:spcPct val="8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2000"/>
              <a:t>发表一篇关于制度压力塑造地方官员策略性行为的高质量论文</a:t>
            </a:r>
            <a:endParaRPr lang="zh-CN" altLang="en-US" sz="2000"/>
          </a:p>
          <a:p>
            <a:pPr marL="342900" indent="-342900" algn="l">
              <a:lnSpc>
                <a:spcPct val="8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2000"/>
              <a:t>发表一篇关于严肃游戏、情景实验与 ABM 方法效度比较的高质量论文</a:t>
            </a:r>
            <a:endParaRPr lang="zh-CN" altLang="en-US" sz="2000"/>
          </a:p>
          <a:p>
            <a:pPr marL="342900" indent="-342900" algn="l">
              <a:lnSpc>
                <a:spcPct val="8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2000"/>
              <a:t>可行性：研究积累、数据与方法、团队组织</a:t>
            </a:r>
            <a:endParaRPr lang="zh-CN" altLang="en-US" sz="200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696210" y="2743200"/>
          <a:ext cx="7259955" cy="3796030"/>
        </p:xfrm>
        <a:graphic>
          <a:graphicData uri="http://schemas.openxmlformats.org/drawingml/2006/table">
            <a:tbl>
              <a:tblPr/>
              <a:tblGrid>
                <a:gridCol w="1729105"/>
                <a:gridCol w="1748790"/>
                <a:gridCol w="490220"/>
                <a:gridCol w="490220"/>
                <a:gridCol w="446405"/>
                <a:gridCol w="450850"/>
                <a:gridCol w="456565"/>
                <a:gridCol w="499110"/>
                <a:gridCol w="460375"/>
                <a:gridCol w="488315"/>
              </a:tblGrid>
              <a:tr h="240030">
                <a:tc gridSpan="10"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项目进度安排</a:t>
                      </a:r>
                      <a:endParaRPr lang="zh-CN" sz="14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6540"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年份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\</a:t>
                      </a: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季度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2026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 hMerge="1">
                  <a:tcP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2027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 hMerge="1">
                  <a:tcP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2028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</a:tr>
              <a:tr h="255905"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核心任务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2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3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4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1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2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3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4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1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DC7F5"/>
                    </a:solidFill>
                  </a:tcPr>
                </a:tc>
              </a:tr>
              <a:tr h="257810">
                <a:tc rowSpan="4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平台建设与旗舰场景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剧本撰写（）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制度规则编码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rgbClr val="2E75B5"/>
                          </a:solidFill>
                          <a:highlight>
                            <a:srgbClr val="8080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solidFill>
                          <a:srgbClr val="2E75B5"/>
                        </a:solidFill>
                        <a:highlight>
                          <a:srgbClr val="8080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highlight>
                            <a:srgbClr val="8080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highlight>
                          <a:srgbClr val="8080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6540">
                <a:tc vMerge="1"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RAG</a:t>
                      </a: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管道开发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810">
                <a:tc vMerge="1"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博弈引擎开发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5905">
                <a:tc vMerge="1"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旗舰场景发布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9560">
                <a:tc rowSpan="5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功能扩展与研究部署</a:t>
                      </a:r>
                      <a:endParaRPr lang="zh-CN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用户界面开发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175">
                <a:tc vMerge="1"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内测版本发布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5905">
                <a:tc vMerge="1"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参数配置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175">
                <a:tc vMerge="1"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教学部署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7655">
                <a:tc vMerge="1"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RCT</a:t>
                      </a: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7340"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优化开放与成果转化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论文写作与投稿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</a:tr>
              <a:tr h="332105">
                <a:tc vMerge="1"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平台开放与社区运维</a:t>
                      </a:r>
                      <a:endParaRPr 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charset="0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200" b="1"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50800" marR="50800" marT="25400" marB="25400" anchor="ctr" anchorCtr="0">
                    <a:lnL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586E4"/>
                    </a:solidFill>
                  </a:tcPr>
                </a:tc>
              </a:tr>
            </a:tbl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0" y="-262255"/>
            <a:ext cx="12334875" cy="1202690"/>
            <a:chOff x="0" y="-413"/>
            <a:chExt cx="19425" cy="1894"/>
          </a:xfrm>
        </p:grpSpPr>
        <p:pic>
          <p:nvPicPr>
            <p:cNvPr id="11" name="图片 10" descr="11"/>
            <p:cNvPicPr>
              <a:picLocks noChangeAspect="1"/>
            </p:cNvPicPr>
            <p:nvPr/>
          </p:nvPicPr>
          <p:blipFill>
            <a:blip r:embed="rId2"/>
            <a:srcRect t="86757" r="14261" b="1554"/>
            <a:stretch>
              <a:fillRect/>
            </a:stretch>
          </p:blipFill>
          <p:spPr>
            <a:xfrm>
              <a:off x="0" y="-391"/>
              <a:ext cx="19425" cy="1487"/>
            </a:xfrm>
            <a:prstGeom prst="rect">
              <a:avLst/>
            </a:prstGeom>
          </p:spPr>
        </p:pic>
        <p:sp>
          <p:nvSpPr>
            <p:cNvPr id="6" name="同侧圆角矩形 5"/>
            <p:cNvSpPr/>
            <p:nvPr/>
          </p:nvSpPr>
          <p:spPr>
            <a:xfrm>
              <a:off x="147" y="183"/>
              <a:ext cx="2400" cy="958"/>
            </a:xfrm>
            <a:prstGeom prst="round2SameRect">
              <a:avLst>
                <a:gd name="adj1" fmla="val 23946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研究主题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" name="同侧圆角矩形 6"/>
            <p:cNvSpPr/>
            <p:nvPr/>
          </p:nvSpPr>
          <p:spPr>
            <a:xfrm>
              <a:off x="5091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游戏设计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>
              <a:off x="7563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研究内容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同侧圆角矩形 8"/>
            <p:cNvSpPr/>
            <p:nvPr/>
          </p:nvSpPr>
          <p:spPr>
            <a:xfrm>
              <a:off x="2619" y="183"/>
              <a:ext cx="2400" cy="958"/>
            </a:xfrm>
            <a:prstGeom prst="round2SameRect">
              <a:avLst>
                <a:gd name="adj1" fmla="val 22507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研究意义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3" name="同侧圆角矩形 12"/>
            <p:cNvSpPr/>
            <p:nvPr/>
          </p:nvSpPr>
          <p:spPr>
            <a:xfrm>
              <a:off x="10035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平台建设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同侧圆角矩形 13"/>
            <p:cNvSpPr/>
            <p:nvPr/>
          </p:nvSpPr>
          <p:spPr>
            <a:xfrm>
              <a:off x="12507" y="183"/>
              <a:ext cx="2400" cy="958"/>
            </a:xfrm>
            <a:prstGeom prst="round2SameRect">
              <a:avLst>
                <a:gd name="adj1" fmla="val 25282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sym typeface="+mn-ea"/>
                </a:rPr>
                <a:t>预期成果</a:t>
              </a:r>
              <a:endParaRPr lang="zh-CN" altLang="en-US" sz="2400" b="1">
                <a:solidFill>
                  <a:schemeClr val="accent1">
                    <a:lumMod val="50000"/>
                  </a:schemeClr>
                </a:solidFill>
                <a:sym typeface="+mn-ea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5069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552" y="350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8" name="图片 17" descr="【logo】用于深色底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269" y="-413"/>
              <a:ext cx="1955" cy="1894"/>
            </a:xfrm>
            <a:prstGeom prst="rect">
              <a:avLst/>
            </a:prstGeom>
          </p:spPr>
        </p:pic>
        <p:grpSp>
          <p:nvGrpSpPr>
            <p:cNvPr id="20" name="组合 19"/>
            <p:cNvGrpSpPr>
              <a:grpSpLocks noChangeAspect="1"/>
            </p:cNvGrpSpPr>
            <p:nvPr/>
          </p:nvGrpSpPr>
          <p:grpSpPr>
            <a:xfrm rot="0">
              <a:off x="16501" y="25"/>
              <a:ext cx="1041" cy="1019"/>
              <a:chOff x="16067" y="1829"/>
              <a:chExt cx="1524" cy="152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6296" y="2076"/>
                <a:ext cx="1062" cy="1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12" name="图片 111" descr="院徽"/>
              <p:cNvPicPr>
                <a:picLocks noChangeAspect="1"/>
              </p:cNvPicPr>
              <p:nvPr/>
            </p:nvPicPr>
            <p:blipFill>
              <a:blip r:embed="rId4"/>
              <a:srcRect l="11694" t="11840" r="11803" b="12022"/>
              <a:stretch>
                <a:fillRect/>
              </a:stretch>
            </p:blipFill>
            <p:spPr>
              <a:xfrm>
                <a:off x="16067" y="1829"/>
                <a:ext cx="1524" cy="1524"/>
              </a:xfrm>
              <a:prstGeom prst="rect">
                <a:avLst/>
              </a:prstGeom>
            </p:spPr>
          </p:pic>
        </p:grpSp>
        <p:cxnSp>
          <p:nvCxnSpPr>
            <p:cNvPr id="15" name="直接连接符 14"/>
            <p:cNvCxnSpPr/>
            <p:nvPr/>
          </p:nvCxnSpPr>
          <p:spPr>
            <a:xfrm>
              <a:off x="2547" y="364"/>
              <a:ext cx="0" cy="68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6" name="直接连接符 15"/>
          <p:cNvCxnSpPr/>
          <p:nvPr/>
        </p:nvCxnSpPr>
        <p:spPr>
          <a:xfrm>
            <a:off x="6326505" y="222250"/>
            <a:ext cx="0" cy="43180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11"/>
          <p:cNvPicPr>
            <a:picLocks noChangeAspect="1"/>
          </p:cNvPicPr>
          <p:nvPr/>
        </p:nvPicPr>
        <p:blipFill>
          <a:blip r:embed="rId1"/>
          <a:srcRect b="8358"/>
          <a:stretch>
            <a:fillRect/>
          </a:stretch>
        </p:blipFill>
        <p:spPr>
          <a:xfrm>
            <a:off x="-554990" y="0"/>
            <a:ext cx="13302615" cy="68446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39495" y="1355090"/>
            <a:ext cx="10112375" cy="518160"/>
          </a:xfrm>
        </p:spPr>
        <p:txBody>
          <a:bodyPr>
            <a:normAutofit fontScale="90000"/>
          </a:bodyPr>
          <a:p>
            <a:r>
              <a:rPr lang="zh-CN" altLang="en-US" sz="311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</a:rPr>
              <a:t>基于严肃游戏的行为模拟研究</a:t>
            </a:r>
            <a:endParaRPr lang="zh-CN" altLang="en-US" sz="3110" b="1">
              <a:gradFill>
                <a:gsLst>
                  <a:gs pos="0">
                    <a:srgbClr val="35B9F6"/>
                  </a:gs>
                  <a:gs pos="74000">
                    <a:srgbClr val="0035CC"/>
                  </a:gs>
                  <a:gs pos="100000">
                    <a:srgbClr val="0128C1"/>
                  </a:gs>
                </a:gsLst>
                <a:lin ang="13440000" scaled="0"/>
              </a:gra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4475" y="4201795"/>
            <a:ext cx="9144000" cy="1411605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吉瑞新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浙江大学公共管理学院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指导老师：高翔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蒋俊彦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肖诗阳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6739890" y="83820"/>
            <a:ext cx="5579110" cy="731520"/>
            <a:chOff x="3560" y="1146"/>
            <a:chExt cx="10422" cy="136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12" y="1208"/>
              <a:ext cx="3870" cy="124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0" y="1146"/>
              <a:ext cx="6432" cy="1367"/>
            </a:xfrm>
            <a:prstGeom prst="rect">
              <a:avLst/>
            </a:prstGeom>
          </p:spPr>
        </p:pic>
      </p:grpSp>
      <p:cxnSp>
        <p:nvCxnSpPr>
          <p:cNvPr id="12" name="直接连接符 11"/>
          <p:cNvCxnSpPr/>
          <p:nvPr/>
        </p:nvCxnSpPr>
        <p:spPr>
          <a:xfrm>
            <a:off x="4792980" y="3590925"/>
            <a:ext cx="2451735" cy="7620"/>
          </a:xfrm>
          <a:prstGeom prst="line">
            <a:avLst/>
          </a:prstGeom>
          <a:ln w="12700">
            <a:gradFill>
              <a:gsLst>
                <a:gs pos="100000">
                  <a:srgbClr val="8DC7F5">
                    <a:alpha val="21000"/>
                  </a:srgbClr>
                </a:gs>
                <a:gs pos="0">
                  <a:srgbClr val="A6D3F7">
                    <a:alpha val="24000"/>
                  </a:srgbClr>
                </a:gs>
                <a:gs pos="25000">
                  <a:srgbClr val="2797EB"/>
                </a:gs>
                <a:gs pos="72000">
                  <a:srgbClr val="228BE7"/>
                </a:gs>
                <a:gs pos="47000">
                  <a:srgbClr val="0030C7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792980" y="5690235"/>
            <a:ext cx="2549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04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26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48000" y="2320290"/>
            <a:ext cx="60960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6000" b="1"/>
              <a:t>    </a:t>
            </a:r>
            <a:r>
              <a:rPr lang="zh-CN" altLang="en-US" sz="66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  <a:latin typeface="+mj-lt"/>
                <a:ea typeface="+mj-ea"/>
                <a:cs typeface="+mj-cs"/>
              </a:rPr>
              <a:t>请</a:t>
            </a:r>
            <a:r>
              <a:rPr lang="en-US" altLang="zh-CN" sz="66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  <a:latin typeface="+mj-lt"/>
                <a:ea typeface="+mj-ea"/>
                <a:cs typeface="+mj-cs"/>
              </a:rPr>
              <a:t> </a:t>
            </a:r>
            <a:r>
              <a:rPr lang="zh-CN" altLang="en-US" sz="66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  <a:latin typeface="+mj-lt"/>
                <a:ea typeface="+mj-ea"/>
                <a:cs typeface="+mj-cs"/>
              </a:rPr>
              <a:t>批</a:t>
            </a:r>
            <a:r>
              <a:rPr lang="en-US" altLang="zh-CN" sz="66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  <a:latin typeface="+mj-lt"/>
                <a:ea typeface="+mj-ea"/>
                <a:cs typeface="+mj-cs"/>
              </a:rPr>
              <a:t> </a:t>
            </a:r>
            <a:r>
              <a:rPr lang="zh-CN" altLang="en-US" sz="66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  <a:latin typeface="+mj-lt"/>
                <a:ea typeface="+mj-ea"/>
                <a:cs typeface="+mj-cs"/>
              </a:rPr>
              <a:t>评</a:t>
            </a:r>
            <a:r>
              <a:rPr lang="en-US" altLang="zh-CN" sz="66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  <a:latin typeface="+mj-lt"/>
                <a:ea typeface="+mj-ea"/>
                <a:cs typeface="+mj-cs"/>
              </a:rPr>
              <a:t> </a:t>
            </a:r>
            <a:r>
              <a:rPr lang="zh-CN" altLang="en-US" sz="66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  <a:latin typeface="+mj-lt"/>
                <a:ea typeface="+mj-ea"/>
                <a:cs typeface="+mj-cs"/>
              </a:rPr>
              <a:t>指</a:t>
            </a:r>
            <a:r>
              <a:rPr lang="en-US" altLang="zh-CN" sz="66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  <a:latin typeface="+mj-lt"/>
                <a:ea typeface="+mj-ea"/>
                <a:cs typeface="+mj-cs"/>
              </a:rPr>
              <a:t> </a:t>
            </a:r>
            <a:r>
              <a:rPr lang="zh-CN" altLang="en-US" sz="6600" b="1">
                <a:gradFill>
                  <a:gsLst>
                    <a:gs pos="0">
                      <a:srgbClr val="35B9F6"/>
                    </a:gs>
                    <a:gs pos="74000">
                      <a:srgbClr val="0035CC"/>
                    </a:gs>
                    <a:gs pos="100000">
                      <a:srgbClr val="0128C1"/>
                    </a:gs>
                  </a:gsLst>
                  <a:lin ang="13440000" scaled="0"/>
                </a:gradFill>
                <a:latin typeface="+mj-lt"/>
                <a:ea typeface="+mj-ea"/>
                <a:cs typeface="+mj-cs"/>
              </a:rPr>
              <a:t>正！</a:t>
            </a:r>
            <a:endParaRPr lang="zh-CN" altLang="en-US" sz="6600" b="1">
              <a:gradFill>
                <a:gsLst>
                  <a:gs pos="0">
                    <a:srgbClr val="35B9F6"/>
                  </a:gs>
                  <a:gs pos="74000">
                    <a:srgbClr val="0035CC"/>
                  </a:gs>
                  <a:gs pos="100000">
                    <a:srgbClr val="0128C1"/>
                  </a:gs>
                </a:gsLst>
                <a:lin ang="13440000" scaled="0"/>
              </a:gra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85140"/>
            <a:ext cx="10515600" cy="6042025"/>
          </a:xfrm>
        </p:spPr>
        <p:txBody>
          <a:bodyPr/>
          <a:p>
            <a:r>
              <a:rPr lang="zh-CN" altLang="en-US">
                <a:highlight>
                  <a:srgbClr val="FFFF00"/>
                </a:highlight>
              </a:rPr>
              <a:t>剧本撰写</a:t>
            </a:r>
            <a:r>
              <a:rPr lang="zh-CN" altLang="en-US"/>
              <a:t>：</a:t>
            </a:r>
            <a:r>
              <a:rPr lang="zh-CN" altLang="en-US">
                <a:solidFill>
                  <a:schemeClr val="accent1"/>
                </a:solidFill>
              </a:rPr>
              <a:t>从百晓生筛选相关文献</a:t>
            </a:r>
            <a:r>
              <a:rPr lang="zh-CN" altLang="en-US"/>
              <a:t>，补充一些特定文献</a:t>
            </a:r>
            <a:r>
              <a:rPr lang="en-US" altLang="zh-CN"/>
              <a:t>/</a:t>
            </a:r>
            <a:r>
              <a:rPr lang="zh-CN" altLang="en-US"/>
              <a:t>书，爬取一些新闻报道（历次环保督察），</a:t>
            </a:r>
            <a:r>
              <a:rPr lang="zh-CN" altLang="en-US"/>
              <a:t>访谈，让LL</a:t>
            </a:r>
            <a:r>
              <a:rPr lang="en-US" altLang="zh-CN"/>
              <a:t>M</a:t>
            </a:r>
            <a:r>
              <a:rPr lang="zh-CN" altLang="en-US"/>
              <a:t>写剧本（申报书），人类审定完善</a:t>
            </a:r>
            <a:endParaRPr lang="zh-CN" altLang="en-US"/>
          </a:p>
          <a:p>
            <a:pPr lvl="1"/>
            <a:r>
              <a:rPr lang="zh-CN" altLang="en-US" sz="2400"/>
              <a:t>决策点选项基于文献（游戏每个环节需要构建对应文献）</a:t>
            </a:r>
            <a:endParaRPr lang="zh-CN" altLang="en-US" sz="2400"/>
          </a:p>
          <a:p>
            <a:pPr lvl="1"/>
            <a:r>
              <a:rPr lang="zh-CN" altLang="en-US"/>
              <a:t>最终目的：解决水污染事件（各种方式）</a:t>
            </a:r>
            <a:endParaRPr lang="zh-CN" altLang="en-US"/>
          </a:p>
          <a:p>
            <a:r>
              <a:rPr lang="zh-CN" altLang="en-US"/>
              <a:t>开发游戏：四个玩家的角色（企业、新闻媒体、公众），互动博弈通信，等等。（小红书示例）</a:t>
            </a:r>
            <a:endParaRPr lang="zh-CN" altLang="en-US"/>
          </a:p>
          <a:p>
            <a:pPr lvl="1"/>
            <a:r>
              <a:rPr lang="zh-CN" altLang="en-US"/>
              <a:t>整体框架</a:t>
            </a:r>
            <a:endParaRPr lang="zh-CN" altLang="en-US"/>
          </a:p>
          <a:p>
            <a:pPr lvl="1" algn="l">
              <a:buClrTx/>
              <a:buSzTx/>
            </a:pPr>
            <a:r>
              <a:rPr lang="zh-CN" altLang="en-US"/>
              <a:t>用于研究：参数可配置；真人玩（人口学变量、社会地位等等变量）</a:t>
            </a:r>
            <a:r>
              <a:rPr lang="en-US" altLang="zh-CN"/>
              <a:t>vs LLM</a:t>
            </a:r>
            <a:r>
              <a:rPr lang="zh-CN" altLang="en-US"/>
              <a:t>（参数可配置）（</a:t>
            </a:r>
            <a:r>
              <a:rPr lang="en-US" altLang="zh-CN"/>
              <a:t>prompt or</a:t>
            </a:r>
            <a:r>
              <a:rPr lang="zh-CN" altLang="en-US"/>
              <a:t> agent</a:t>
            </a:r>
            <a:r>
              <a:rPr lang="zh-CN" altLang="en-US"/>
              <a:t>？）</a:t>
            </a:r>
            <a:endParaRPr lang="zh-CN" altLang="en-US"/>
          </a:p>
          <a:p>
            <a:pPr lvl="1"/>
            <a:r>
              <a:rPr lang="zh-CN" altLang="en-US">
                <a:solidFill>
                  <a:schemeClr val="accent1"/>
                </a:solidFill>
              </a:rPr>
              <a:t>官员</a:t>
            </a:r>
            <a:r>
              <a:rPr lang="en-US" altLang="zh-CN">
                <a:solidFill>
                  <a:schemeClr val="accent1"/>
                </a:solidFill>
              </a:rPr>
              <a:t>agent</a:t>
            </a:r>
            <a:r>
              <a:rPr lang="zh-CN" altLang="en-US">
                <a:solidFill>
                  <a:schemeClr val="accent1"/>
                </a:solidFill>
              </a:rPr>
              <a:t>构建：官员文献</a:t>
            </a:r>
            <a:r>
              <a:rPr lang="zh-CN" altLang="en-US"/>
              <a:t>、新闻报道，等等，</a:t>
            </a:r>
            <a:r>
              <a:rPr lang="en-US" altLang="zh-CN"/>
              <a:t>“</a:t>
            </a:r>
            <a:r>
              <a:rPr lang="zh-CN" altLang="en-US"/>
              <a:t>大体</a:t>
            </a:r>
            <a:r>
              <a:rPr lang="en-US" altLang="zh-CN"/>
              <a:t>”</a:t>
            </a:r>
            <a:r>
              <a:rPr lang="zh-CN" altLang="en-US"/>
              <a:t>的类型化的各类官员（基础），个性化的官员信息（人口学变量、从业经历等等）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！！！</a:t>
            </a:r>
            <a:endParaRPr lang="zh-CN" altLang="en-US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/>
              <a:t>前端：动画设计（基础图标素材</a:t>
            </a:r>
            <a:r>
              <a:rPr lang="en-US" altLang="zh-CN"/>
              <a:t>+vibe coing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邀请官员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1465"/>
            <a:ext cx="10515600" cy="5885815"/>
          </a:xfrm>
        </p:spPr>
        <p:txBody>
          <a:bodyPr>
            <a:normAutofit fontScale="90000" lnSpcReduction="10000"/>
          </a:bodyPr>
          <a:p>
            <a:pPr>
              <a:lnSpc>
                <a:spcPct val="120000"/>
              </a:lnSpc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剧本写好：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应急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+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环保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+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府际博弈的文献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新闻报道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环保督察，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claude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写剧本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，人审核修订</a:t>
            </a:r>
            <a:endParaRPr lang="zh-CN" altLang="en-US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构建官员agent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官员的文献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（参考红楼梦）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新闻报道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需要参数可配置（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LLM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、角色的变量、制度环境变量、剧本里需要变化的变量）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构建一个去生成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agent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的工作流（参考红楼梦）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algn="l">
              <a:buClrTx/>
              <a:buSzTx/>
            </a:pPr>
            <a:endParaRPr lang="zh-CN" altLang="en-US"/>
          </a:p>
          <a:p>
            <a:pPr algn="l">
              <a:buClrTx/>
              <a:buSzTx/>
            </a:pPr>
            <a:endParaRPr lang="zh-CN" altLang="en-US"/>
          </a:p>
          <a:p>
            <a:pPr algn="l">
              <a:buClrTx/>
              <a:buSzTx/>
            </a:pPr>
            <a:endParaRPr lang="zh-CN" altLang="en-US"/>
          </a:p>
          <a:p>
            <a:pPr algn="l">
              <a:buClrTx/>
              <a:buSzTx/>
            </a:pPr>
            <a:r>
              <a:rPr lang="zh-CN" altLang="en-US"/>
              <a:t>游戏开发，研究功能参数可配置</a:t>
            </a:r>
            <a:endParaRPr lang="zh-CN" altLang="en-US"/>
          </a:p>
          <a:p>
            <a:pPr algn="l">
              <a:buClrTx/>
              <a:buSzTx/>
            </a:pPr>
            <a:endParaRPr lang="zh-CN" altLang="en-US"/>
          </a:p>
          <a:p>
            <a:pPr algn="l">
              <a:buClrTx/>
              <a:buSzTx/>
            </a:pPr>
            <a:r>
              <a:rPr lang="zh-CN" altLang="en-US"/>
              <a:t>前端开发，基础人物图标等等可以先做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/>
              <a:t>真人去做</a:t>
            </a:r>
            <a:endParaRPr lang="zh-CN" altLang="en-US"/>
          </a:p>
          <a:p>
            <a:pPr algn="l">
              <a:buClrTx/>
              <a:buSzTx/>
            </a:pPr>
            <a:endParaRPr lang="zh-CN" altLang="en-US"/>
          </a:p>
          <a:p>
            <a:pPr algn="l">
              <a:buClrTx/>
              <a:buSzTx/>
            </a:pP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2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3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4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5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6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7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8.xml><?xml version="1.0" encoding="utf-8"?>
<p:tagLst xmlns:p="http://schemas.openxmlformats.org/presentationml/2006/main">
  <p:tag name="TABLE_ENDDRAG_ORIGIN_RECT" val="503*240"/>
  <p:tag name="TABLE_ENDDRAG_RECT" val="46*275*503*240"/>
</p:tagLst>
</file>

<file path=ppt/tags/tag9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10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11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12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13.xml><?xml version="1.0" encoding="utf-8"?>
<p:tagLst xmlns:p="http://schemas.openxmlformats.org/presentationml/2006/main">
  <p:tag name="KSO_WM_DIAGRAM_VIRTUALLY_FRAME" val="{&quot;height&quot;:536.6,&quot;left&quot;:30.3,&quot;top&quot;:78.35,&quot;width&quot;:582.1}"/>
</p:tagLst>
</file>

<file path=ppt/tags/tag14.xml><?xml version="1.0" encoding="utf-8"?>
<p:tagLst xmlns:p="http://schemas.openxmlformats.org/presentationml/2006/main">
  <p:tag name="KSO_WM_DIAGRAM_VIRTUALLY_FRAME" val="{&quot;height&quot;:420.1,&quot;left&quot;:19.7,&quot;top&quot;:74.05,&quot;width&quot;:461.7}"/>
</p:tagLst>
</file>

<file path=ppt/tags/tag15.xml><?xml version="1.0" encoding="utf-8"?>
<p:tagLst xmlns:p="http://schemas.openxmlformats.org/presentationml/2006/main">
  <p:tag name="KSO_WM_DIAGRAM_VIRTUALLY_FRAME" val="{&quot;height&quot;:420.1,&quot;left&quot;:19.7,&quot;top&quot;:74.05,&quot;width&quot;:461.7}"/>
</p:tagLst>
</file>

<file path=ppt/tags/tag16.xml><?xml version="1.0" encoding="utf-8"?>
<p:tagLst xmlns:p="http://schemas.openxmlformats.org/presentationml/2006/main">
  <p:tag name="KSO_WM_DIAGRAM_VIRTUALLY_FRAME" val="{&quot;height&quot;:420.1,&quot;left&quot;:19.7,&quot;top&quot;:74.05,&quot;width&quot;:461.7}"/>
</p:tagLst>
</file>

<file path=ppt/tags/tag17.xml><?xml version="1.0" encoding="utf-8"?>
<p:tagLst xmlns:p="http://schemas.openxmlformats.org/presentationml/2006/main">
  <p:tag name="KSO_WM_DIAGRAM_VIRTUALLY_FRAME" val="{&quot;height&quot;:420.1,&quot;left&quot;:19.7,&quot;top&quot;:74.05,&quot;width&quot;:461.7}"/>
</p:tagLst>
</file>

<file path=ppt/tags/tag18.xml><?xml version="1.0" encoding="utf-8"?>
<p:tagLst xmlns:p="http://schemas.openxmlformats.org/presentationml/2006/main">
  <p:tag name="KSO_WM_DIAGRAM_VIRTUALLY_FRAME" val="{&quot;height&quot;:420.1,&quot;left&quot;:19.7,&quot;top&quot;:74.05,&quot;width&quot;:461.7}"/>
</p:tagLst>
</file>

<file path=ppt/tags/tag19.xml><?xml version="1.0" encoding="utf-8"?>
<p:tagLst xmlns:p="http://schemas.openxmlformats.org/presentationml/2006/main">
  <p:tag name="KSO_WM_DIAGRAM_VIRTUALLY_FRAME" val="{&quot;height&quot;:420.1,&quot;left&quot;:19.7,&quot;top&quot;:74.05,&quot;width&quot;:461.7}"/>
</p:tagLst>
</file>

<file path=ppt/tags/tag20.xml><?xml version="1.0" encoding="utf-8"?>
<p:tagLst xmlns:p="http://schemas.openxmlformats.org/presentationml/2006/main">
  <p:tag name="KSO_WM_DIAGRAM_VIRTUALLY_FRAME" val="{&quot;height&quot;:420.1,&quot;left&quot;:19.7,&quot;top&quot;:74.05,&quot;width&quot;:461.7}"/>
</p:tagLst>
</file>

<file path=ppt/tags/tag21.xml><?xml version="1.0" encoding="utf-8"?>
<p:tagLst xmlns:p="http://schemas.openxmlformats.org/presentationml/2006/main">
  <p:tag name="KSO_WM_DIAGRAM_VIRTUALLY_FRAME" val="{&quot;height&quot;:420.1,&quot;left&quot;:19.7,&quot;top&quot;:74.05,&quot;width&quot;:461.7}"/>
</p:tagLst>
</file>

<file path=ppt/tags/tag22.xml><?xml version="1.0" encoding="utf-8"?>
<p:tagLst xmlns:p="http://schemas.openxmlformats.org/presentationml/2006/main">
  <p:tag name="TABLE_ENDDRAG_ORIGIN_RECT" val="571*296"/>
  <p:tag name="TABLE_ENDDRAG_RECT" val="198*208*571*296"/>
</p:tagLst>
</file>

<file path=ppt/tags/tag23.xml><?xml version="1.0" encoding="utf-8"?>
<p:tagLst xmlns:p="http://schemas.openxmlformats.org/presentationml/2006/main">
  <p:tag name="resource_record_key" val="{&quot;10&quot;:[2014039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3418</Words>
  <Application>WPS 演示</Application>
  <PresentationFormat>宽屏</PresentationFormat>
  <Paragraphs>718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Wingdings</vt:lpstr>
      <vt:lpstr>Calibri</vt:lpstr>
      <vt:lpstr>等线</vt:lpstr>
      <vt:lpstr>Arial Unicode MS</vt:lpstr>
      <vt:lpstr>WPS</vt:lpstr>
      <vt:lpstr>基于严肃游戏的行为模拟研究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基于严肃游戏的行为模拟研究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ruixin ji</dc:creator>
  <cp:lastModifiedBy>吉瑞新</cp:lastModifiedBy>
  <cp:revision>34</cp:revision>
  <dcterms:created xsi:type="dcterms:W3CDTF">2023-08-09T12:44:00Z</dcterms:created>
  <dcterms:modified xsi:type="dcterms:W3CDTF">2026-05-05T13:12:08Z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8FE0403A35924604A3AB21585710D407_12</vt:lpwstr>
  </property>
</Properties>
</file>